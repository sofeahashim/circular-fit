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idea in one breath: CircularFit keeps handover renovation waste out of skip bins. Fill in the team details on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When hundreds of homes are handed over in one precinct, many owners start renovating straight away and strip out sinks, doors, cabinets and leftover tiles that are often brand new. All of it goes into skip bins. The numbers are a Malaysian housing-sector estimate: about 16 percent of materials used become waste, and about a third of that could be reused or recycled. Say clearly that these are estimates. Evidence to add if you can: a few quick interviews with new homeowners or renovation contractors on how soon they renovate and what they throw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share the problem. Residents and contractors are the donors. Neighbours are the requesters. Township management is the customer and the admin. Also involved but not shown: a salvage partner, a recycler and guardhouse staff. Stress that the township is the buyer: it gets the numbers, the planner and the routing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CircularFit sends each strip-out item to the best available route: reuse with a neighbour, salvage through the guardhouse staging zone, recycle, and landfill only as a last resort. These are real screens from our prototype. A resident logs an item and sees where it would go. The donor and the requester each agree on their own page. The township admin confirms, and every confirmed hand-off lands in a ledger that feeds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strip-out goes into a skip bin and nobody counts it. CircularFit changes four things: it routes each item up the waste hierarchy, it keeps matching hyper-local, it gives the township a planner for the next handover wave, and it only counts hand-offs that both residents agreed to and the admin confirmed. If a judge asks about marketplaces and leftover-material platforms: those list items for sale or swap, while CircularFit is a routing and reporting system for the developer. Check any specific competitor claim before you say it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and top to bottom. A resident logs an item. We estimate its weight and carbon from a materials catalogue. Routing picks the first route that applies: reuse if a neighbour asked, then salvage through the guardhouse staging zone, then recycle, and landfill last. For reuse, the donor and requester each agree on their own page, and only then can the admin confirm. The match score is a ranking aid: 40 percent material, 25 percent distance, 20 percent wording overlap and 15 percent quantity. The admin makes the final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planning scenario from our Handover Planner, not a measured result. We assumed 300 homes, 60 percent renovating, 900 kilograms of waste each, and 30 percent of the divertible share captured. That gives about 162 tonnes of waste, about 52 tonnes divertible, and about 15 tonnes actually diverted, which avoids roughly 5 of 54 skip-bin loads and about 11 tonnes of CO2e. Say plainly that the divertible share comes from a Malaysian housing-sector estimate and that a pilot would replace waste per home with real precinct data. The township gets numbers it can report, residents get free materials and points, and less new material is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slide idea, it is a running prototype with the full loop. It needs no proprietary data, and the carbon factors come from public databases or are clearly labelled assumptions. On the ground we need a staging area at the guardhouse, a salvage partner, a recycler and support from the Joint Management Body. The four main risks are adoption, contractor habits, safety of used fixtures and small batches, and each has a simple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ask for a big rollout. We propose one handover wave in one precinct. Phase 0 agrees the precinct, the staging space and the partners, and measures waste per home today. Phase 1 runs a wave with both roles live and tracks tonnes, skip-bin loads and carbon. Phase 2 extends across the township with real sign-in, reminders and a QR check-in. Phase 3 offers the model to other developers and townships. The timeline is a proposal, so be open to adjusting it with Sime Darby Property mentors.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or paraphrase the paragraph; it is 85 words, inside the 100-word limit. Close on the three ideas: routing instead of listing, a ledger the township can trust, and a prototype that already works. Then thank the judges. Fill in the team name and contact details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screens for the visual concept slide: the routing console, the handover planner and the resident home. All data shown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carbon method. Tile and sanitaryware emission factors come from the ICE database version 4, cradle to gate. Other databases give higher values, so name the one you use. The weights per unit and the factors for doors, cabinets and taps are placeholders and are labelled as such. The condition and route credits are assumptions the township can change on the Settings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 behind the hand-off. The system proposes a match. Both residents answer on their own page. The admin can only confirm once both agree, and a second pop-up with a tick box guards against a mis-click. Only then does the item enter the ledger and do points get awarded. In the prototype the two roles are a demo switch; a live version would use real sign-in.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hackathon asks teams to state every data source and assumption. This slide does that in one place: three published sources, and a clear list of what is synthetic or assumed in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00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3F0DC"/>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REEN">
    <p:bg>
      <p:bgPr>
        <a:solidFill>
          <a:srgbClr val="0AE44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C:\Users\User\AppData\Local\Temp\claude\D--Claude-hackathon-sime-darby-circular-fit\e6dfe292-c359-452d-a677-778295337ec0\scratchpad\pptx\assets\ring.png">    </p:cNvPr>
          <p:cNvPicPr>
            <a:picLocks noChangeAspect="1"/>
          </p:cNvPicPr>
          <p:nvPr/>
        </p:nvPicPr>
        <p:blipFill>
          <a:blip r:embed="rId1"/>
          <a:stretch>
            <a:fillRect/>
          </a:stretch>
        </p:blipFill>
        <p:spPr>
          <a:xfrm>
            <a:off x="8064500" y="1206500"/>
            <a:ext cx="2667000" cy="2667000"/>
          </a:xfrm>
          <a:prstGeom prst="rect">
            <a:avLst/>
          </a:prstGeom>
        </p:spPr>
      </p:pic>
      <p:sp>
        <p:nvSpPr>
          <p:cNvPr id="4"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E448"/>
                </a:solidFill>
                <a:latin typeface="Calibri" pitchFamily="34" charset="0"/>
                <a:ea typeface="Calibri" pitchFamily="34" charset="-122"/>
                <a:cs typeface="Calibri" pitchFamily="34" charset="-120"/>
              </a:rPr>
              <a:t>SIME DARBY PROPERTY UNIVERSITY HACKATHON 2026 · PLANET TRACK</a:t>
            </a:r>
            <a:endParaRPr lang="en-US" sz="1400" dirty="0"/>
          </a:p>
        </p:txBody>
      </p:sp>
      <p:sp>
        <p:nvSpPr>
          <p:cNvPr id="5" name="Text 1"/>
          <p:cNvSpPr txBox="1"/>
          <p:nvPr/>
        </p:nvSpPr>
        <p:spPr>
          <a:xfrm>
            <a:off x="812800" y="1206500"/>
            <a:ext cx="6985000" cy="1270000"/>
          </a:xfrm>
          <a:prstGeom prst="rect">
            <a:avLst/>
          </a:prstGeom>
          <a:noFill/>
          <a:ln/>
        </p:spPr>
        <p:txBody>
          <a:bodyPr wrap="square" lIns="0" tIns="0" rIns="0" bIns="0" rtlCol="0" anchor="t"/>
          <a:lstStyle/>
          <a:p>
            <a:pPr indent="0" marL="0">
              <a:buNone/>
            </a:pPr>
            <a:r>
              <a:rPr lang="en-US" sz="8800" b="1" dirty="0">
                <a:solidFill>
                  <a:srgbClr val="FFFCE1"/>
                </a:solidFill>
                <a:latin typeface="Calibri" pitchFamily="34" charset="0"/>
                <a:ea typeface="Calibri" pitchFamily="34" charset="-122"/>
                <a:cs typeface="Calibri" pitchFamily="34" charset="-120"/>
              </a:rPr>
              <a:t>CircularFit</a:t>
            </a:r>
            <a:endParaRPr lang="en-US" sz="8800" dirty="0"/>
          </a:p>
        </p:txBody>
      </p:sp>
      <p:sp>
        <p:nvSpPr>
          <p:cNvPr id="6" name="Text 2"/>
          <p:cNvSpPr txBox="1"/>
          <p:nvPr/>
        </p:nvSpPr>
        <p:spPr>
          <a:xfrm>
            <a:off x="812800" y="2508250"/>
            <a:ext cx="6985000" cy="571500"/>
          </a:xfrm>
          <a:prstGeom prst="rect">
            <a:avLst/>
          </a:prstGeom>
          <a:noFill/>
          <a:ln/>
        </p:spPr>
        <p:txBody>
          <a:bodyPr wrap="square" lIns="0" tIns="0" rIns="0" bIns="0" rtlCol="0" anchor="t"/>
          <a:lstStyle/>
          <a:p>
            <a:pPr indent="0" marL="0">
              <a:buNone/>
            </a:pPr>
            <a:r>
              <a:rPr lang="en-US" sz="3600" dirty="0">
                <a:solidFill>
                  <a:srgbClr val="FFFCE1"/>
                </a:solidFill>
                <a:latin typeface="Calibri" pitchFamily="34" charset="0"/>
                <a:ea typeface="Calibri" pitchFamily="34" charset="-122"/>
                <a:cs typeface="Calibri" pitchFamily="34" charset="-120"/>
              </a:rPr>
              <a:t>Don’t skip it. </a:t>
            </a:r>
            <a:pPr indent="0" marL="0">
              <a:buNone/>
            </a:pPr>
            <a:r>
              <a:rPr lang="en-US" sz="3600" dirty="0">
                <a:solidFill>
                  <a:srgbClr val="0AE448"/>
                </a:solidFill>
                <a:latin typeface="Calibri" pitchFamily="34" charset="0"/>
                <a:ea typeface="Calibri" pitchFamily="34" charset="-122"/>
                <a:cs typeface="Calibri" pitchFamily="34" charset="-120"/>
              </a:rPr>
              <a:t>Share it.</a:t>
            </a:r>
            <a:endParaRPr lang="en-US" sz="3600" dirty="0"/>
          </a:p>
        </p:txBody>
      </p:sp>
      <p:sp>
        <p:nvSpPr>
          <p:cNvPr id="7" name="Text 3"/>
          <p:cNvSpPr txBox="1"/>
          <p:nvPr/>
        </p:nvSpPr>
        <p:spPr>
          <a:xfrm>
            <a:off x="812800" y="3238500"/>
            <a:ext cx="6350000" cy="698500"/>
          </a:xfrm>
          <a:prstGeom prst="rect">
            <a:avLst/>
          </a:prstGeom>
          <a:noFill/>
          <a:ln/>
        </p:spPr>
        <p:txBody>
          <a:bodyPr wrap="square" lIns="0" tIns="0" rIns="0" bIns="0" rtlCol="0" anchor="t"/>
          <a:lstStyle/>
          <a:p>
            <a:pPr indent="0" marL="0">
              <a:buNone/>
            </a:pPr>
            <a:r>
              <a:rPr lang="en-US" sz="1600" dirty="0">
                <a:solidFill>
                  <a:srgbClr val="BBBAA6"/>
                </a:solidFill>
                <a:latin typeface="Calibri" pitchFamily="34" charset="0"/>
                <a:ea typeface="Calibri" pitchFamily="34" charset="-122"/>
                <a:cs typeface="Calibri" pitchFamily="34" charset="-120"/>
              </a:rPr>
              <a:t>Routing handover renovation waste to a neighbour, a salvage partner or a recycler, before landfill.</a:t>
            </a:r>
            <a:endParaRPr lang="en-US" sz="1600" dirty="0"/>
          </a:p>
        </p:txBody>
      </p:sp>
      <p:sp>
        <p:nvSpPr>
          <p:cNvPr id="8" name="Shape 4"/>
          <p:cNvSpPr/>
          <p:nvPr/>
        </p:nvSpPr>
        <p:spPr>
          <a:xfrm>
            <a:off x="812800" y="5092700"/>
            <a:ext cx="2006600" cy="952500"/>
          </a:xfrm>
          <a:prstGeom prst="roundRect">
            <a:avLst>
              <a:gd name="adj" fmla="val 16000"/>
            </a:avLst>
          </a:prstGeom>
          <a:solidFill>
            <a:srgbClr val="1A1D1B"/>
          </a:solidFill>
          <a:ln w="9525">
            <a:solidFill>
              <a:srgbClr val="2F3330"/>
            </a:solidFill>
            <a:prstDash val="solid"/>
          </a:ln>
        </p:spPr>
      </p:sp>
      <p:sp>
        <p:nvSpPr>
          <p:cNvPr id="9" name="Text 5"/>
          <p:cNvSpPr txBox="1"/>
          <p:nvPr/>
        </p:nvSpPr>
        <p:spPr>
          <a:xfrm>
            <a:off x="990600" y="5245100"/>
            <a:ext cx="1714500" cy="190500"/>
          </a:xfrm>
          <a:prstGeom prst="rect">
            <a:avLst/>
          </a:prstGeom>
          <a:noFill/>
          <a:ln/>
        </p:spPr>
        <p:txBody>
          <a:bodyPr wrap="square" lIns="0" tIns="0" rIns="0" bIns="0" rtlCol="0" anchor="t"/>
          <a:lstStyle/>
          <a:p>
            <a:pPr indent="0" marL="0">
              <a:buNone/>
            </a:pPr>
            <a:r>
              <a:rPr lang="en-US" sz="1200" dirty="0">
                <a:solidFill>
                  <a:srgbClr val="BBBAA6"/>
                </a:solidFill>
                <a:latin typeface="Calibri" pitchFamily="34" charset="0"/>
                <a:ea typeface="Calibri" pitchFamily="34" charset="-122"/>
                <a:cs typeface="Calibri" pitchFamily="34" charset="-120"/>
              </a:rPr>
              <a:t>Team name</a:t>
            </a:r>
            <a:endParaRPr lang="en-US" sz="1200" dirty="0"/>
          </a:p>
        </p:txBody>
      </p:sp>
      <p:sp>
        <p:nvSpPr>
          <p:cNvPr id="10" name="Text 6"/>
          <p:cNvSpPr txBox="1"/>
          <p:nvPr/>
        </p:nvSpPr>
        <p:spPr>
          <a:xfrm>
            <a:off x="990600" y="5511800"/>
            <a:ext cx="1714500" cy="279400"/>
          </a:xfrm>
          <a:prstGeom prst="rect">
            <a:avLst/>
          </a:prstGeom>
          <a:noFill/>
          <a:ln/>
        </p:spPr>
        <p:txBody>
          <a:bodyPr wrap="square" lIns="0" tIns="0" rIns="0" bIns="0" rtlCol="0" anchor="t"/>
          <a:lstStyle/>
          <a:p>
            <a:pPr indent="0" marL="0">
              <a:buNone/>
            </a:pPr>
            <a:r>
              <a:rPr lang="en-US" sz="1600" b="1" dirty="0">
                <a:solidFill>
                  <a:srgbClr val="ABFF84"/>
                </a:solidFill>
                <a:latin typeface="Calibri" pitchFamily="34" charset="0"/>
                <a:ea typeface="Calibri" pitchFamily="34" charset="-122"/>
                <a:cs typeface="Calibri" pitchFamily="34" charset="-120"/>
              </a:rPr>
              <a:t>[fill in]</a:t>
            </a:r>
            <a:endParaRPr lang="en-US" sz="1600" dirty="0"/>
          </a:p>
        </p:txBody>
      </p:sp>
      <p:sp>
        <p:nvSpPr>
          <p:cNvPr id="11" name="Shape 7"/>
          <p:cNvSpPr/>
          <p:nvPr/>
        </p:nvSpPr>
        <p:spPr>
          <a:xfrm>
            <a:off x="2946400" y="5092700"/>
            <a:ext cx="2006600" cy="952500"/>
          </a:xfrm>
          <a:prstGeom prst="roundRect">
            <a:avLst>
              <a:gd name="adj" fmla="val 16000"/>
            </a:avLst>
          </a:prstGeom>
          <a:solidFill>
            <a:srgbClr val="1A1D1B"/>
          </a:solidFill>
          <a:ln w="9525">
            <a:solidFill>
              <a:srgbClr val="2F3330"/>
            </a:solidFill>
            <a:prstDash val="solid"/>
          </a:ln>
        </p:spPr>
      </p:sp>
      <p:sp>
        <p:nvSpPr>
          <p:cNvPr id="12" name="Text 8"/>
          <p:cNvSpPr txBox="1"/>
          <p:nvPr/>
        </p:nvSpPr>
        <p:spPr>
          <a:xfrm>
            <a:off x="3124200" y="5245100"/>
            <a:ext cx="1714500" cy="190500"/>
          </a:xfrm>
          <a:prstGeom prst="rect">
            <a:avLst/>
          </a:prstGeom>
          <a:noFill/>
          <a:ln/>
        </p:spPr>
        <p:txBody>
          <a:bodyPr wrap="square" lIns="0" tIns="0" rIns="0" bIns="0" rtlCol="0" anchor="t"/>
          <a:lstStyle/>
          <a:p>
            <a:pPr indent="0" marL="0">
              <a:buNone/>
            </a:pPr>
            <a:r>
              <a:rPr lang="en-US" sz="1200" dirty="0">
                <a:solidFill>
                  <a:srgbClr val="BBBAA6"/>
                </a:solidFill>
                <a:latin typeface="Calibri" pitchFamily="34" charset="0"/>
                <a:ea typeface="Calibri" pitchFamily="34" charset="-122"/>
                <a:cs typeface="Calibri" pitchFamily="34" charset="-120"/>
              </a:rPr>
              <a:t>Team leader</a:t>
            </a:r>
            <a:endParaRPr lang="en-US" sz="1200" dirty="0"/>
          </a:p>
        </p:txBody>
      </p:sp>
      <p:sp>
        <p:nvSpPr>
          <p:cNvPr id="13" name="Text 9"/>
          <p:cNvSpPr txBox="1"/>
          <p:nvPr/>
        </p:nvSpPr>
        <p:spPr>
          <a:xfrm>
            <a:off x="3124200" y="5511800"/>
            <a:ext cx="1714500" cy="279400"/>
          </a:xfrm>
          <a:prstGeom prst="rect">
            <a:avLst/>
          </a:prstGeom>
          <a:noFill/>
          <a:ln/>
        </p:spPr>
        <p:txBody>
          <a:bodyPr wrap="square" lIns="0" tIns="0" rIns="0" bIns="0" rtlCol="0" anchor="t"/>
          <a:lstStyle/>
          <a:p>
            <a:pPr indent="0" marL="0">
              <a:buNone/>
            </a:pPr>
            <a:r>
              <a:rPr lang="en-US" sz="1600" b="1" dirty="0">
                <a:solidFill>
                  <a:srgbClr val="ABFF84"/>
                </a:solidFill>
                <a:latin typeface="Calibri" pitchFamily="34" charset="0"/>
                <a:ea typeface="Calibri" pitchFamily="34" charset="-122"/>
                <a:cs typeface="Calibri" pitchFamily="34" charset="-120"/>
              </a:rPr>
              <a:t>[fill in]</a:t>
            </a:r>
            <a:endParaRPr lang="en-US" sz="1600" dirty="0"/>
          </a:p>
        </p:txBody>
      </p:sp>
      <p:sp>
        <p:nvSpPr>
          <p:cNvPr id="14" name="Shape 10"/>
          <p:cNvSpPr/>
          <p:nvPr/>
        </p:nvSpPr>
        <p:spPr>
          <a:xfrm>
            <a:off x="5080000" y="5092700"/>
            <a:ext cx="2006600" cy="952500"/>
          </a:xfrm>
          <a:prstGeom prst="roundRect">
            <a:avLst>
              <a:gd name="adj" fmla="val 16000"/>
            </a:avLst>
          </a:prstGeom>
          <a:solidFill>
            <a:srgbClr val="1A1D1B"/>
          </a:solidFill>
          <a:ln w="9525">
            <a:solidFill>
              <a:srgbClr val="2F3330"/>
            </a:solidFill>
            <a:prstDash val="solid"/>
          </a:ln>
        </p:spPr>
      </p:sp>
      <p:sp>
        <p:nvSpPr>
          <p:cNvPr id="15" name="Text 11"/>
          <p:cNvSpPr txBox="1"/>
          <p:nvPr/>
        </p:nvSpPr>
        <p:spPr>
          <a:xfrm>
            <a:off x="5257800" y="5245100"/>
            <a:ext cx="1714500" cy="190500"/>
          </a:xfrm>
          <a:prstGeom prst="rect">
            <a:avLst/>
          </a:prstGeom>
          <a:noFill/>
          <a:ln/>
        </p:spPr>
        <p:txBody>
          <a:bodyPr wrap="square" lIns="0" tIns="0" rIns="0" bIns="0" rtlCol="0" anchor="t"/>
          <a:lstStyle/>
          <a:p>
            <a:pPr indent="0" marL="0">
              <a:buNone/>
            </a:pPr>
            <a:r>
              <a:rPr lang="en-US" sz="1200" dirty="0">
                <a:solidFill>
                  <a:srgbClr val="BBBAA6"/>
                </a:solidFill>
                <a:latin typeface="Calibri" pitchFamily="34" charset="0"/>
                <a:ea typeface="Calibri" pitchFamily="34" charset="-122"/>
                <a:cs typeface="Calibri" pitchFamily="34" charset="-120"/>
              </a:rPr>
              <a:t>University</a:t>
            </a:r>
            <a:endParaRPr lang="en-US" sz="1200" dirty="0"/>
          </a:p>
        </p:txBody>
      </p:sp>
      <p:sp>
        <p:nvSpPr>
          <p:cNvPr id="16" name="Text 12"/>
          <p:cNvSpPr txBox="1"/>
          <p:nvPr/>
        </p:nvSpPr>
        <p:spPr>
          <a:xfrm>
            <a:off x="5257800" y="5511800"/>
            <a:ext cx="1714500" cy="279400"/>
          </a:xfrm>
          <a:prstGeom prst="rect">
            <a:avLst/>
          </a:prstGeom>
          <a:noFill/>
          <a:ln/>
        </p:spPr>
        <p:txBody>
          <a:bodyPr wrap="square" lIns="0" tIns="0" rIns="0" bIns="0" rtlCol="0" anchor="t"/>
          <a:lstStyle/>
          <a:p>
            <a:pPr indent="0" marL="0">
              <a:buNone/>
            </a:pPr>
            <a:r>
              <a:rPr lang="en-US" sz="1600" b="1" dirty="0">
                <a:solidFill>
                  <a:srgbClr val="ABFF84"/>
                </a:solidFill>
                <a:latin typeface="Calibri" pitchFamily="34" charset="0"/>
                <a:ea typeface="Calibri" pitchFamily="34" charset="-122"/>
                <a:cs typeface="Calibri" pitchFamily="34" charset="-120"/>
              </a:rPr>
              <a:t>[fill in]</a:t>
            </a:r>
            <a:endParaRPr lang="en-US" sz="1600" dirty="0"/>
          </a:p>
        </p:txBody>
      </p:sp>
      <p:sp>
        <p:nvSpPr>
          <p:cNvPr id="17" name="Shape 13"/>
          <p:cNvSpPr/>
          <p:nvPr/>
        </p:nvSpPr>
        <p:spPr>
          <a:xfrm>
            <a:off x="7213600" y="5092700"/>
            <a:ext cx="2006600" cy="952500"/>
          </a:xfrm>
          <a:prstGeom prst="roundRect">
            <a:avLst>
              <a:gd name="adj" fmla="val 16000"/>
            </a:avLst>
          </a:prstGeom>
          <a:solidFill>
            <a:srgbClr val="1A1D1B"/>
          </a:solidFill>
          <a:ln w="9525">
            <a:solidFill>
              <a:srgbClr val="2F3330"/>
            </a:solidFill>
            <a:prstDash val="solid"/>
          </a:ln>
        </p:spPr>
      </p:sp>
      <p:sp>
        <p:nvSpPr>
          <p:cNvPr id="18" name="Text 14"/>
          <p:cNvSpPr txBox="1"/>
          <p:nvPr/>
        </p:nvSpPr>
        <p:spPr>
          <a:xfrm>
            <a:off x="7391400" y="5245100"/>
            <a:ext cx="1714500" cy="190500"/>
          </a:xfrm>
          <a:prstGeom prst="rect">
            <a:avLst/>
          </a:prstGeom>
          <a:noFill/>
          <a:ln/>
        </p:spPr>
        <p:txBody>
          <a:bodyPr wrap="square" lIns="0" tIns="0" rIns="0" bIns="0" rtlCol="0" anchor="t"/>
          <a:lstStyle/>
          <a:p>
            <a:pPr indent="0" marL="0">
              <a:buNone/>
            </a:pPr>
            <a:r>
              <a:rPr lang="en-US" sz="1200" dirty="0">
                <a:solidFill>
                  <a:srgbClr val="BBBAA6"/>
                </a:solidFill>
                <a:latin typeface="Calibri" pitchFamily="34" charset="0"/>
                <a:ea typeface="Calibri" pitchFamily="34" charset="-122"/>
                <a:cs typeface="Calibri" pitchFamily="34" charset="-120"/>
              </a:rPr>
              <a:t>Members (3 to 5)</a:t>
            </a:r>
            <a:endParaRPr lang="en-US" sz="1200" dirty="0"/>
          </a:p>
        </p:txBody>
      </p:sp>
      <p:sp>
        <p:nvSpPr>
          <p:cNvPr id="19" name="Text 15"/>
          <p:cNvSpPr txBox="1"/>
          <p:nvPr/>
        </p:nvSpPr>
        <p:spPr>
          <a:xfrm>
            <a:off x="7391400" y="5511800"/>
            <a:ext cx="1714500" cy="279400"/>
          </a:xfrm>
          <a:prstGeom prst="rect">
            <a:avLst/>
          </a:prstGeom>
          <a:noFill/>
          <a:ln/>
        </p:spPr>
        <p:txBody>
          <a:bodyPr wrap="square" lIns="0" tIns="0" rIns="0" bIns="0" rtlCol="0" anchor="t"/>
          <a:lstStyle/>
          <a:p>
            <a:pPr indent="0" marL="0">
              <a:buNone/>
            </a:pPr>
            <a:r>
              <a:rPr lang="en-US" sz="1600" b="1" dirty="0">
                <a:solidFill>
                  <a:srgbClr val="ABFF84"/>
                </a:solidFill>
                <a:latin typeface="Calibri" pitchFamily="34" charset="0"/>
                <a:ea typeface="Calibri" pitchFamily="34" charset="-122"/>
                <a:cs typeface="Calibri" pitchFamily="34" charset="-120"/>
              </a:rPr>
              <a:t>[fill in]</a:t>
            </a:r>
            <a:endParaRPr lang="en-US" sz="1600" dirty="0"/>
          </a:p>
        </p:txBody>
      </p:sp>
      <p:sp>
        <p:nvSpPr>
          <p:cNvPr id="20" name="Shape 16"/>
          <p:cNvSpPr/>
          <p:nvPr/>
        </p:nvSpPr>
        <p:spPr>
          <a:xfrm>
            <a:off x="9347200" y="5092700"/>
            <a:ext cx="2006600" cy="952500"/>
          </a:xfrm>
          <a:prstGeom prst="roundRect">
            <a:avLst>
              <a:gd name="adj" fmla="val 16000"/>
            </a:avLst>
          </a:prstGeom>
          <a:solidFill>
            <a:srgbClr val="1A1D1B"/>
          </a:solidFill>
          <a:ln w="9525">
            <a:solidFill>
              <a:srgbClr val="2F3330"/>
            </a:solidFill>
            <a:prstDash val="solid"/>
          </a:ln>
        </p:spPr>
      </p:sp>
      <p:sp>
        <p:nvSpPr>
          <p:cNvPr id="21" name="Text 17"/>
          <p:cNvSpPr txBox="1"/>
          <p:nvPr/>
        </p:nvSpPr>
        <p:spPr>
          <a:xfrm>
            <a:off x="9525000" y="5245100"/>
            <a:ext cx="1714500" cy="190500"/>
          </a:xfrm>
          <a:prstGeom prst="rect">
            <a:avLst/>
          </a:prstGeom>
          <a:noFill/>
          <a:ln/>
        </p:spPr>
        <p:txBody>
          <a:bodyPr wrap="square" lIns="0" tIns="0" rIns="0" bIns="0" rtlCol="0" anchor="t"/>
          <a:lstStyle/>
          <a:p>
            <a:pPr indent="0" marL="0">
              <a:buNone/>
            </a:pPr>
            <a:r>
              <a:rPr lang="en-US" sz="1200" dirty="0">
                <a:solidFill>
                  <a:srgbClr val="BBBAA6"/>
                </a:solidFill>
                <a:latin typeface="Calibri" pitchFamily="34" charset="0"/>
                <a:ea typeface="Calibri" pitchFamily="34" charset="-122"/>
                <a:cs typeface="Calibri" pitchFamily="34" charset="-120"/>
              </a:rPr>
              <a:t>Email and phone</a:t>
            </a:r>
            <a:endParaRPr lang="en-US" sz="1200" dirty="0"/>
          </a:p>
        </p:txBody>
      </p:sp>
      <p:sp>
        <p:nvSpPr>
          <p:cNvPr id="22" name="Text 18"/>
          <p:cNvSpPr txBox="1"/>
          <p:nvPr/>
        </p:nvSpPr>
        <p:spPr>
          <a:xfrm>
            <a:off x="9525000" y="5511800"/>
            <a:ext cx="1714500" cy="279400"/>
          </a:xfrm>
          <a:prstGeom prst="rect">
            <a:avLst/>
          </a:prstGeom>
          <a:noFill/>
          <a:ln/>
        </p:spPr>
        <p:txBody>
          <a:bodyPr wrap="square" lIns="0" tIns="0" rIns="0" bIns="0" rtlCol="0" anchor="t"/>
          <a:lstStyle/>
          <a:p>
            <a:pPr indent="0" marL="0">
              <a:buNone/>
            </a:pPr>
            <a:r>
              <a:rPr lang="en-US" sz="1600" b="1" dirty="0">
                <a:solidFill>
                  <a:srgbClr val="ABFF84"/>
                </a:solidFill>
                <a:latin typeface="Calibri" pitchFamily="34" charset="0"/>
                <a:ea typeface="Calibri" pitchFamily="34" charset="-122"/>
                <a:cs typeface="Calibri" pitchFamily="34" charset="-120"/>
              </a:rPr>
              <a:t>[fill in]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E448"/>
                </a:solidFill>
                <a:latin typeface="Calibri" pitchFamily="34" charset="0"/>
                <a:ea typeface="Calibri" pitchFamily="34" charset="-122"/>
                <a:cs typeface="Calibri" pitchFamily="34" charset="-120"/>
              </a:rPr>
              <a:t>1 · THE PROBLEM</a:t>
            </a:r>
            <a:endParaRPr lang="en-US" sz="1400" dirty="0"/>
          </a:p>
        </p:txBody>
      </p:sp>
      <p:sp>
        <p:nvSpPr>
          <p:cNvPr id="4" name="Text 1"/>
          <p:cNvSpPr txBox="1"/>
          <p:nvPr/>
        </p:nvSpPr>
        <p:spPr>
          <a:xfrm>
            <a:off x="812800" y="1168400"/>
            <a:ext cx="10566400" cy="1270000"/>
          </a:xfrm>
          <a:prstGeom prst="rect">
            <a:avLst/>
          </a:prstGeom>
          <a:noFill/>
          <a:ln/>
        </p:spPr>
        <p:txBody>
          <a:bodyPr wrap="square" lIns="0" tIns="0" rIns="0" bIns="0" rtlCol="0" anchor="t"/>
          <a:lstStyle/>
          <a:p>
            <a:pPr indent="0" marL="0">
              <a:lnSpc>
                <a:spcPct val="95000"/>
              </a:lnSpc>
              <a:buNone/>
            </a:pPr>
            <a:r>
              <a:rPr lang="en-US" sz="4200" b="1" dirty="0">
                <a:solidFill>
                  <a:srgbClr val="FFFCE1"/>
                </a:solidFill>
                <a:latin typeface="Calibri" pitchFamily="34" charset="0"/>
                <a:ea typeface="Calibri" pitchFamily="34" charset="-122"/>
                <a:cs typeface="Calibri" pitchFamily="34" charset="-120"/>
              </a:rPr>
              <a:t>Every handover starts</a:t>
            </a:r>
            <a:endParaRPr lang="en-US" sz="4200" dirty="0"/>
          </a:p>
          <a:p>
            <a:pPr indent="0" marL="0">
              <a:lnSpc>
                <a:spcPct val="95000"/>
              </a:lnSpc>
              <a:buNone/>
            </a:pPr>
            <a:r>
              <a:rPr lang="en-US" sz="4200" b="1" dirty="0">
                <a:solidFill>
                  <a:srgbClr val="FFFCE1"/>
                </a:solidFill>
                <a:latin typeface="Calibri" pitchFamily="34" charset="0"/>
                <a:ea typeface="Calibri" pitchFamily="34" charset="-122"/>
                <a:cs typeface="Calibri" pitchFamily="34" charset="-120"/>
              </a:rPr>
              <a:t>a renovation rush</a:t>
            </a:r>
            <a:endParaRPr lang="en-US" sz="4200" dirty="0"/>
          </a:p>
        </p:txBody>
      </p:sp>
      <p:sp>
        <p:nvSpPr>
          <p:cNvPr id="5" name="Shape 2"/>
          <p:cNvSpPr/>
          <p:nvPr/>
        </p:nvSpPr>
        <p:spPr>
          <a:xfrm>
            <a:off x="812800" y="2730500"/>
            <a:ext cx="457200" cy="457200"/>
          </a:xfrm>
          <a:prstGeom prst="ellipse">
            <a:avLst/>
          </a:prstGeom>
          <a:solidFill>
            <a:srgbClr val="1A1D1B"/>
          </a:solidFill>
          <a:ln w="19050">
            <a:solidFill>
              <a:srgbClr val="0AE448"/>
            </a:solidFill>
            <a:prstDash val="solid"/>
          </a:ln>
        </p:spPr>
      </p:sp>
      <p:sp>
        <p:nvSpPr>
          <p:cNvPr id="6" name="Shape 3"/>
          <p:cNvSpPr/>
          <p:nvPr/>
        </p:nvSpPr>
        <p:spPr>
          <a:xfrm>
            <a:off x="965200" y="2882900"/>
            <a:ext cx="152400" cy="152400"/>
          </a:xfrm>
          <a:prstGeom prst="ellipse">
            <a:avLst/>
          </a:prstGeom>
          <a:solidFill>
            <a:srgbClr val="0AE448"/>
          </a:solidFill>
          <a:ln/>
        </p:spPr>
      </p:sp>
      <p:sp>
        <p:nvSpPr>
          <p:cNvPr id="7" name="Text 4"/>
          <p:cNvSpPr txBox="1"/>
          <p:nvPr/>
        </p:nvSpPr>
        <p:spPr>
          <a:xfrm>
            <a:off x="1422400" y="2692400"/>
            <a:ext cx="4826000" cy="533400"/>
          </a:xfrm>
          <a:prstGeom prst="rect">
            <a:avLst/>
          </a:prstGeom>
          <a:noFill/>
          <a:ln/>
        </p:spPr>
        <p:txBody>
          <a:bodyPr wrap="square" lIns="0" tIns="0" rIns="0" bIns="0" rtlCol="0" anchor="ctr"/>
          <a:lstStyle/>
          <a:p>
            <a:pPr indent="0" marL="0">
              <a:buNone/>
            </a:pPr>
            <a:r>
              <a:rPr lang="en-US" sz="1600" dirty="0">
                <a:solidFill>
                  <a:srgbClr val="FFFCE1"/>
                </a:solidFill>
                <a:latin typeface="Calibri" pitchFamily="34" charset="0"/>
                <a:ea typeface="Calibri" pitchFamily="34" charset="-122"/>
                <a:cs typeface="Calibri" pitchFamily="34" charset="-120"/>
              </a:rPr>
              <a:t>Hundreds of homes are handed over in one precinct</a:t>
            </a:r>
            <a:endParaRPr lang="en-US" sz="1600" dirty="0"/>
          </a:p>
        </p:txBody>
      </p:sp>
      <p:sp>
        <p:nvSpPr>
          <p:cNvPr id="8" name="Shape 5"/>
          <p:cNvSpPr/>
          <p:nvPr/>
        </p:nvSpPr>
        <p:spPr>
          <a:xfrm>
            <a:off x="812800" y="3441700"/>
            <a:ext cx="457200" cy="457200"/>
          </a:xfrm>
          <a:prstGeom prst="ellipse">
            <a:avLst/>
          </a:prstGeom>
          <a:solidFill>
            <a:srgbClr val="1A1D1B"/>
          </a:solidFill>
          <a:ln w="19050">
            <a:solidFill>
              <a:srgbClr val="0AE448"/>
            </a:solidFill>
            <a:prstDash val="solid"/>
          </a:ln>
        </p:spPr>
      </p:sp>
      <p:sp>
        <p:nvSpPr>
          <p:cNvPr id="9" name="Shape 6"/>
          <p:cNvSpPr/>
          <p:nvPr/>
        </p:nvSpPr>
        <p:spPr>
          <a:xfrm>
            <a:off x="965200" y="3594100"/>
            <a:ext cx="152400" cy="152400"/>
          </a:xfrm>
          <a:prstGeom prst="ellipse">
            <a:avLst/>
          </a:prstGeom>
          <a:solidFill>
            <a:srgbClr val="0AE448"/>
          </a:solidFill>
          <a:ln/>
        </p:spPr>
      </p:sp>
      <p:sp>
        <p:nvSpPr>
          <p:cNvPr id="10" name="Text 7"/>
          <p:cNvSpPr txBox="1"/>
          <p:nvPr/>
        </p:nvSpPr>
        <p:spPr>
          <a:xfrm>
            <a:off x="1422400" y="3403600"/>
            <a:ext cx="4826000" cy="533400"/>
          </a:xfrm>
          <a:prstGeom prst="rect">
            <a:avLst/>
          </a:prstGeom>
          <a:noFill/>
          <a:ln/>
        </p:spPr>
        <p:txBody>
          <a:bodyPr wrap="square" lIns="0" tIns="0" rIns="0" bIns="0" rtlCol="0" anchor="ctr"/>
          <a:lstStyle/>
          <a:p>
            <a:pPr indent="0" marL="0">
              <a:buNone/>
            </a:pPr>
            <a:r>
              <a:rPr lang="en-US" sz="1600" dirty="0">
                <a:solidFill>
                  <a:srgbClr val="FFFCE1"/>
                </a:solidFill>
                <a:latin typeface="Calibri" pitchFamily="34" charset="0"/>
                <a:ea typeface="Calibri" pitchFamily="34" charset="-122"/>
                <a:cs typeface="Calibri" pitchFamily="34" charset="-120"/>
              </a:rPr>
              <a:t>Owners strip out sinks, doors, cabinets and spare tiles, often unused</a:t>
            </a:r>
            <a:endParaRPr lang="en-US" sz="1600" dirty="0"/>
          </a:p>
        </p:txBody>
      </p:sp>
      <p:sp>
        <p:nvSpPr>
          <p:cNvPr id="11" name="Shape 8"/>
          <p:cNvSpPr/>
          <p:nvPr/>
        </p:nvSpPr>
        <p:spPr>
          <a:xfrm>
            <a:off x="812800" y="4152900"/>
            <a:ext cx="457200" cy="457200"/>
          </a:xfrm>
          <a:prstGeom prst="ellipse">
            <a:avLst/>
          </a:prstGeom>
          <a:solidFill>
            <a:srgbClr val="1A1D1B"/>
          </a:solidFill>
          <a:ln w="19050">
            <a:solidFill>
              <a:srgbClr val="0AE448"/>
            </a:solidFill>
            <a:prstDash val="solid"/>
          </a:ln>
        </p:spPr>
      </p:sp>
      <p:sp>
        <p:nvSpPr>
          <p:cNvPr id="12" name="Shape 9"/>
          <p:cNvSpPr/>
          <p:nvPr/>
        </p:nvSpPr>
        <p:spPr>
          <a:xfrm>
            <a:off x="965200" y="4305300"/>
            <a:ext cx="152400" cy="152400"/>
          </a:xfrm>
          <a:prstGeom prst="ellipse">
            <a:avLst/>
          </a:prstGeom>
          <a:solidFill>
            <a:srgbClr val="0AE448"/>
          </a:solidFill>
          <a:ln/>
        </p:spPr>
      </p:sp>
      <p:sp>
        <p:nvSpPr>
          <p:cNvPr id="13" name="Text 10"/>
          <p:cNvSpPr txBox="1"/>
          <p:nvPr/>
        </p:nvSpPr>
        <p:spPr>
          <a:xfrm>
            <a:off x="1422400" y="4114800"/>
            <a:ext cx="4826000" cy="533400"/>
          </a:xfrm>
          <a:prstGeom prst="rect">
            <a:avLst/>
          </a:prstGeom>
          <a:noFill/>
          <a:ln/>
        </p:spPr>
        <p:txBody>
          <a:bodyPr wrap="square" lIns="0" tIns="0" rIns="0" bIns="0" rtlCol="0" anchor="ctr"/>
          <a:lstStyle/>
          <a:p>
            <a:pPr indent="0" marL="0">
              <a:buNone/>
            </a:pPr>
            <a:r>
              <a:rPr lang="en-US" sz="1600" dirty="0">
                <a:solidFill>
                  <a:srgbClr val="FFFCE1"/>
                </a:solidFill>
                <a:latin typeface="Calibri" pitchFamily="34" charset="0"/>
                <a:ea typeface="Calibri" pitchFamily="34" charset="-122"/>
                <a:cs typeface="Calibri" pitchFamily="34" charset="-120"/>
              </a:rPr>
              <a:t>It all goes into skip bins, then landfill</a:t>
            </a:r>
            <a:endParaRPr lang="en-US" sz="1600" dirty="0"/>
          </a:p>
        </p:txBody>
      </p:sp>
      <p:sp>
        <p:nvSpPr>
          <p:cNvPr id="14" name="Shape 11"/>
          <p:cNvSpPr/>
          <p:nvPr/>
        </p:nvSpPr>
        <p:spPr>
          <a:xfrm>
            <a:off x="812800" y="4864100"/>
            <a:ext cx="457200" cy="457200"/>
          </a:xfrm>
          <a:prstGeom prst="ellipse">
            <a:avLst/>
          </a:prstGeom>
          <a:solidFill>
            <a:srgbClr val="1A1D1B"/>
          </a:solidFill>
          <a:ln w="19050">
            <a:solidFill>
              <a:srgbClr val="0AE448"/>
            </a:solidFill>
            <a:prstDash val="solid"/>
          </a:ln>
        </p:spPr>
      </p:sp>
      <p:sp>
        <p:nvSpPr>
          <p:cNvPr id="15" name="Shape 12"/>
          <p:cNvSpPr/>
          <p:nvPr/>
        </p:nvSpPr>
        <p:spPr>
          <a:xfrm>
            <a:off x="965200" y="5016500"/>
            <a:ext cx="152400" cy="152400"/>
          </a:xfrm>
          <a:prstGeom prst="ellipse">
            <a:avLst/>
          </a:prstGeom>
          <a:solidFill>
            <a:srgbClr val="0AE448"/>
          </a:solidFill>
          <a:ln/>
        </p:spPr>
      </p:sp>
      <p:sp>
        <p:nvSpPr>
          <p:cNvPr id="16" name="Text 13"/>
          <p:cNvSpPr txBox="1"/>
          <p:nvPr/>
        </p:nvSpPr>
        <p:spPr>
          <a:xfrm>
            <a:off x="1422400" y="4826000"/>
            <a:ext cx="4826000" cy="533400"/>
          </a:xfrm>
          <a:prstGeom prst="rect">
            <a:avLst/>
          </a:prstGeom>
          <a:noFill/>
          <a:ln/>
        </p:spPr>
        <p:txBody>
          <a:bodyPr wrap="square" lIns="0" tIns="0" rIns="0" bIns="0" rtlCol="0" anchor="ctr"/>
          <a:lstStyle/>
          <a:p>
            <a:pPr indent="0" marL="0">
              <a:buNone/>
            </a:pPr>
            <a:r>
              <a:rPr lang="en-US" sz="1600" dirty="0">
                <a:solidFill>
                  <a:srgbClr val="FFFCE1"/>
                </a:solidFill>
                <a:latin typeface="Calibri" pitchFamily="34" charset="0"/>
                <a:ea typeface="Calibri" pitchFamily="34" charset="-122"/>
                <a:cs typeface="Calibri" pitchFamily="34" charset="-120"/>
              </a:rPr>
              <a:t>Landfill space in Malaysia is already tight</a:t>
            </a:r>
            <a:endParaRPr lang="en-US" sz="1600" dirty="0"/>
          </a:p>
        </p:txBody>
      </p:sp>
      <p:sp>
        <p:nvSpPr>
          <p:cNvPr id="17" name="Shape 14"/>
          <p:cNvSpPr/>
          <p:nvPr/>
        </p:nvSpPr>
        <p:spPr>
          <a:xfrm>
            <a:off x="6838950" y="2730500"/>
            <a:ext cx="4540250" cy="952500"/>
          </a:xfrm>
          <a:prstGeom prst="roundRect">
            <a:avLst>
              <a:gd name="adj" fmla="val 16000"/>
            </a:avLst>
          </a:prstGeom>
          <a:solidFill>
            <a:srgbClr val="1A1D1B"/>
          </a:solidFill>
          <a:ln w="9525">
            <a:solidFill>
              <a:srgbClr val="2F3330"/>
            </a:solidFill>
            <a:prstDash val="solid"/>
          </a:ln>
        </p:spPr>
      </p:sp>
      <p:sp>
        <p:nvSpPr>
          <p:cNvPr id="18" name="Text 15"/>
          <p:cNvSpPr txBox="1"/>
          <p:nvPr/>
        </p:nvSpPr>
        <p:spPr>
          <a:xfrm>
            <a:off x="7042150" y="2730500"/>
            <a:ext cx="1587500" cy="952500"/>
          </a:xfrm>
          <a:prstGeom prst="rect">
            <a:avLst/>
          </a:prstGeom>
          <a:noFill/>
          <a:ln/>
        </p:spPr>
        <p:txBody>
          <a:bodyPr wrap="square" lIns="0" tIns="0" rIns="0" bIns="0" rtlCol="0" anchor="ctr"/>
          <a:lstStyle/>
          <a:p>
            <a:pPr indent="0" marL="0">
              <a:buNone/>
            </a:pPr>
            <a:r>
              <a:rPr lang="en-US" sz="3600" b="1" dirty="0">
                <a:solidFill>
                  <a:srgbClr val="0AE448"/>
                </a:solidFill>
                <a:latin typeface="Calibri" pitchFamily="34" charset="0"/>
                <a:ea typeface="Calibri" pitchFamily="34" charset="-122"/>
                <a:cs typeface="Calibri" pitchFamily="34" charset="-120"/>
              </a:rPr>
              <a:t>~16%</a:t>
            </a:r>
            <a:endParaRPr lang="en-US" sz="3600" dirty="0"/>
          </a:p>
        </p:txBody>
      </p:sp>
      <p:sp>
        <p:nvSpPr>
          <p:cNvPr id="19" name="Text 16"/>
          <p:cNvSpPr txBox="1"/>
          <p:nvPr/>
        </p:nvSpPr>
        <p:spPr>
          <a:xfrm>
            <a:off x="8680450" y="2730500"/>
            <a:ext cx="2476500" cy="952500"/>
          </a:xfrm>
          <a:prstGeom prst="rect">
            <a:avLst/>
          </a:prstGeom>
          <a:noFill/>
          <a:ln/>
        </p:spPr>
        <p:txBody>
          <a:bodyPr wrap="square" lIns="0" tIns="0" rIns="0" bIns="0" rtlCol="0" anchor="ctr"/>
          <a:lstStyle/>
          <a:p>
            <a:pPr indent="0" marL="0">
              <a:buNone/>
            </a:pPr>
            <a:r>
              <a:rPr lang="en-US" sz="1400" dirty="0">
                <a:solidFill>
                  <a:srgbClr val="BBBAA6"/>
                </a:solidFill>
                <a:latin typeface="Calibri" pitchFamily="34" charset="0"/>
                <a:ea typeface="Calibri" pitchFamily="34" charset="-122"/>
                <a:cs typeface="Calibri" pitchFamily="34" charset="-120"/>
              </a:rPr>
              <a:t>of materials used in housing becomes waste</a:t>
            </a:r>
            <a:endParaRPr lang="en-US" sz="1400" dirty="0"/>
          </a:p>
        </p:txBody>
      </p:sp>
      <p:sp>
        <p:nvSpPr>
          <p:cNvPr id="20" name="Shape 17"/>
          <p:cNvSpPr/>
          <p:nvPr/>
        </p:nvSpPr>
        <p:spPr>
          <a:xfrm>
            <a:off x="6838950" y="3784600"/>
            <a:ext cx="4540250" cy="952500"/>
          </a:xfrm>
          <a:prstGeom prst="roundRect">
            <a:avLst>
              <a:gd name="adj" fmla="val 16000"/>
            </a:avLst>
          </a:prstGeom>
          <a:solidFill>
            <a:srgbClr val="1A1D1B"/>
          </a:solidFill>
          <a:ln w="9525">
            <a:solidFill>
              <a:srgbClr val="2F3330"/>
            </a:solidFill>
            <a:prstDash val="solid"/>
          </a:ln>
        </p:spPr>
      </p:sp>
      <p:sp>
        <p:nvSpPr>
          <p:cNvPr id="21" name="Text 18"/>
          <p:cNvSpPr txBox="1"/>
          <p:nvPr/>
        </p:nvSpPr>
        <p:spPr>
          <a:xfrm>
            <a:off x="7042150" y="3784600"/>
            <a:ext cx="1587500" cy="952500"/>
          </a:xfrm>
          <a:prstGeom prst="rect">
            <a:avLst/>
          </a:prstGeom>
          <a:noFill/>
          <a:ln/>
        </p:spPr>
        <p:txBody>
          <a:bodyPr wrap="square" lIns="0" tIns="0" rIns="0" bIns="0" rtlCol="0" anchor="ctr"/>
          <a:lstStyle/>
          <a:p>
            <a:pPr indent="0" marL="0">
              <a:buNone/>
            </a:pPr>
            <a:r>
              <a:rPr lang="en-US" sz="3600" b="1" dirty="0">
                <a:solidFill>
                  <a:srgbClr val="ABFF84"/>
                </a:solidFill>
                <a:latin typeface="Calibri" pitchFamily="34" charset="0"/>
                <a:ea typeface="Calibri" pitchFamily="34" charset="-122"/>
                <a:cs typeface="Calibri" pitchFamily="34" charset="-120"/>
              </a:rPr>
              <a:t>~32%</a:t>
            </a:r>
            <a:endParaRPr lang="en-US" sz="3600" dirty="0"/>
          </a:p>
        </p:txBody>
      </p:sp>
      <p:sp>
        <p:nvSpPr>
          <p:cNvPr id="22" name="Text 19"/>
          <p:cNvSpPr txBox="1"/>
          <p:nvPr/>
        </p:nvSpPr>
        <p:spPr>
          <a:xfrm>
            <a:off x="8680450" y="3784600"/>
            <a:ext cx="2476500" cy="952500"/>
          </a:xfrm>
          <a:prstGeom prst="rect">
            <a:avLst/>
          </a:prstGeom>
          <a:noFill/>
          <a:ln/>
        </p:spPr>
        <p:txBody>
          <a:bodyPr wrap="square" lIns="0" tIns="0" rIns="0" bIns="0" rtlCol="0" anchor="ctr"/>
          <a:lstStyle/>
          <a:p>
            <a:pPr indent="0" marL="0">
              <a:buNone/>
            </a:pPr>
            <a:r>
              <a:rPr lang="en-US" sz="1400" dirty="0">
                <a:solidFill>
                  <a:srgbClr val="BBBAA6"/>
                </a:solidFill>
                <a:latin typeface="Calibri" pitchFamily="34" charset="0"/>
                <a:ea typeface="Calibri" pitchFamily="34" charset="-122"/>
                <a:cs typeface="Calibri" pitchFamily="34" charset="-120"/>
              </a:rPr>
              <a:t>of that waste could be reused or recycled</a:t>
            </a:r>
            <a:endParaRPr lang="en-US" sz="1400" dirty="0"/>
          </a:p>
        </p:txBody>
      </p:sp>
      <p:sp>
        <p:nvSpPr>
          <p:cNvPr id="23" name="Shape 20"/>
          <p:cNvSpPr/>
          <p:nvPr/>
        </p:nvSpPr>
        <p:spPr>
          <a:xfrm>
            <a:off x="6838950" y="4838700"/>
            <a:ext cx="4540250" cy="952500"/>
          </a:xfrm>
          <a:prstGeom prst="roundRect">
            <a:avLst>
              <a:gd name="adj" fmla="val 16000"/>
            </a:avLst>
          </a:prstGeom>
          <a:solidFill>
            <a:srgbClr val="1A1D1B"/>
          </a:solidFill>
          <a:ln w="9525">
            <a:solidFill>
              <a:srgbClr val="2F3330"/>
            </a:solidFill>
            <a:prstDash val="solid"/>
          </a:ln>
        </p:spPr>
      </p:sp>
      <p:sp>
        <p:nvSpPr>
          <p:cNvPr id="24" name="Text 21"/>
          <p:cNvSpPr txBox="1"/>
          <p:nvPr/>
        </p:nvSpPr>
        <p:spPr>
          <a:xfrm>
            <a:off x="7042150" y="4838700"/>
            <a:ext cx="1587500" cy="952500"/>
          </a:xfrm>
          <a:prstGeom prst="rect">
            <a:avLst/>
          </a:prstGeom>
          <a:noFill/>
          <a:ln/>
        </p:spPr>
        <p:txBody>
          <a:bodyPr wrap="square" lIns="0" tIns="0" rIns="0" bIns="0" rtlCol="0" anchor="ctr"/>
          <a:lstStyle/>
          <a:p>
            <a:pPr indent="0" marL="0">
              <a:buNone/>
            </a:pPr>
            <a:r>
              <a:rPr lang="en-US" sz="3600" b="1" dirty="0">
                <a:solidFill>
                  <a:srgbClr val="00BAE2"/>
                </a:solidFill>
                <a:latin typeface="Calibri" pitchFamily="34" charset="0"/>
                <a:ea typeface="Calibri" pitchFamily="34" charset="-122"/>
                <a:cs typeface="Calibri" pitchFamily="34" charset="-120"/>
              </a:rPr>
              <a:t>8.8 Mt</a:t>
            </a:r>
            <a:endParaRPr lang="en-US" sz="3600" dirty="0"/>
          </a:p>
        </p:txBody>
      </p:sp>
      <p:sp>
        <p:nvSpPr>
          <p:cNvPr id="25" name="Text 22"/>
          <p:cNvSpPr txBox="1"/>
          <p:nvPr/>
        </p:nvSpPr>
        <p:spPr>
          <a:xfrm>
            <a:off x="8680450" y="4838700"/>
            <a:ext cx="2476500" cy="952500"/>
          </a:xfrm>
          <a:prstGeom prst="rect">
            <a:avLst/>
          </a:prstGeom>
          <a:noFill/>
          <a:ln/>
        </p:spPr>
        <p:txBody>
          <a:bodyPr wrap="square" lIns="0" tIns="0" rIns="0" bIns="0" rtlCol="0" anchor="ctr"/>
          <a:lstStyle/>
          <a:p>
            <a:pPr indent="0" marL="0">
              <a:buNone/>
            </a:pPr>
            <a:r>
              <a:rPr lang="en-US" sz="1400" dirty="0">
                <a:solidFill>
                  <a:srgbClr val="BBBAA6"/>
                </a:solidFill>
                <a:latin typeface="Calibri" pitchFamily="34" charset="0"/>
                <a:ea typeface="Calibri" pitchFamily="34" charset="-122"/>
                <a:cs typeface="Calibri" pitchFamily="34" charset="-120"/>
              </a:rPr>
              <a:t>of housing waste a year in Malaysia (estimate)</a:t>
            </a:r>
            <a:endParaRPr lang="en-US" sz="1400" dirty="0"/>
          </a:p>
        </p:txBody>
      </p:sp>
      <p:sp>
        <p:nvSpPr>
          <p:cNvPr id="26" name="Text 23"/>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8A8A78"/>
                </a:solidFill>
                <a:latin typeface="Calibri" pitchFamily="34" charset="0"/>
                <a:ea typeface="Calibri" pitchFamily="34" charset="-122"/>
                <a:cs typeface="Calibri" pitchFamily="34" charset="-120"/>
              </a:rPr>
              <a:t>Sources: Ain Shams Engineering Journal (2021); UTHM study on construction waste and landfill space</a:t>
            </a:r>
            <a:endParaRPr lang="en-US" sz="1200" dirty="0"/>
          </a:p>
        </p:txBody>
      </p:sp>
      <p:sp>
        <p:nvSpPr>
          <p:cNvPr id="27" name="Text 24"/>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8A8A78"/>
                </a:solidFill>
                <a:latin typeface="Calibri" pitchFamily="34" charset="0"/>
                <a:ea typeface="Calibri" pitchFamily="34" charset="-122"/>
                <a:cs typeface="Calibri"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6B28"/>
                </a:solidFill>
                <a:latin typeface="Calibri" pitchFamily="34" charset="0"/>
                <a:ea typeface="Calibri" pitchFamily="34" charset="-122"/>
                <a:cs typeface="Calibri" pitchFamily="34" charset="-120"/>
              </a:rPr>
              <a:t>2 · TARGET USERS</a:t>
            </a:r>
            <a:endParaRPr lang="en-US" sz="1400" dirty="0"/>
          </a:p>
        </p:txBody>
      </p:sp>
      <p:sp>
        <p:nvSpPr>
          <p:cNvPr id="4" name="Text 1"/>
          <p:cNvSpPr txBox="1"/>
          <p:nvPr/>
        </p:nvSpPr>
        <p:spPr>
          <a:xfrm>
            <a:off x="812800" y="1168400"/>
            <a:ext cx="10566400" cy="635000"/>
          </a:xfrm>
          <a:prstGeom prst="rect">
            <a:avLst/>
          </a:prstGeom>
          <a:noFill/>
          <a:ln/>
        </p:spPr>
        <p:txBody>
          <a:bodyPr wrap="square" lIns="0" tIns="0" rIns="0" bIns="0" rtlCol="0" anchor="t"/>
          <a:lstStyle/>
          <a:p>
            <a:pPr indent="0" marL="0">
              <a:lnSpc>
                <a:spcPct val="95000"/>
              </a:lnSpc>
              <a:buNone/>
            </a:pPr>
            <a:r>
              <a:rPr lang="en-US" sz="4200" b="1" dirty="0">
                <a:solidFill>
                  <a:srgbClr val="14201A"/>
                </a:solidFill>
                <a:latin typeface="Calibri" pitchFamily="34" charset="0"/>
                <a:ea typeface="Calibri" pitchFamily="34" charset="-122"/>
                <a:cs typeface="Calibri" pitchFamily="34" charset="-120"/>
              </a:rPr>
              <a:t>Three people, one shared problem</a:t>
            </a:r>
            <a:endParaRPr lang="en-US" sz="4200" dirty="0"/>
          </a:p>
        </p:txBody>
      </p:sp>
      <p:sp>
        <p:nvSpPr>
          <p:cNvPr id="5" name="Shape 2"/>
          <p:cNvSpPr/>
          <p:nvPr/>
        </p:nvSpPr>
        <p:spPr>
          <a:xfrm>
            <a:off x="812800" y="2095500"/>
            <a:ext cx="3384550" cy="3556000"/>
          </a:xfrm>
          <a:prstGeom prst="roundRect">
            <a:avLst>
              <a:gd name="adj" fmla="val 5253"/>
            </a:avLst>
          </a:prstGeom>
          <a:solidFill>
            <a:srgbClr val="FFFDF2"/>
          </a:solidFill>
          <a:ln w="9525">
            <a:solidFill>
              <a:srgbClr val="D8D3B6"/>
            </a:solidFill>
            <a:prstDash val="solid"/>
          </a:ln>
        </p:spPr>
      </p:sp>
      <p:sp>
        <p:nvSpPr>
          <p:cNvPr id="6" name="Shape 3"/>
          <p:cNvSpPr/>
          <p:nvPr/>
        </p:nvSpPr>
        <p:spPr>
          <a:xfrm>
            <a:off x="1066800" y="2349500"/>
            <a:ext cx="508000" cy="508000"/>
          </a:xfrm>
          <a:prstGeom prst="ellipse">
            <a:avLst/>
          </a:prstGeom>
          <a:solidFill>
            <a:srgbClr val="0AE448"/>
          </a:solidFill>
          <a:ln/>
        </p:spPr>
      </p:sp>
      <p:sp>
        <p:nvSpPr>
          <p:cNvPr id="7" name="Text 4"/>
          <p:cNvSpPr txBox="1"/>
          <p:nvPr/>
        </p:nvSpPr>
        <p:spPr>
          <a:xfrm>
            <a:off x="1066800" y="2349500"/>
            <a:ext cx="508000" cy="508000"/>
          </a:xfrm>
          <a:prstGeom prst="rect">
            <a:avLst/>
          </a:prstGeom>
          <a:noFill/>
          <a:ln/>
        </p:spPr>
        <p:txBody>
          <a:bodyPr wrap="square" lIns="0" tIns="0" rIns="0" bIns="0" rtlCol="0" anchor="ctr"/>
          <a:lstStyle/>
          <a:p>
            <a:pPr algn="ctr" indent="0" marL="0">
              <a:buNone/>
            </a:pPr>
            <a:r>
              <a:rPr lang="en-US" sz="2400" b="1" dirty="0">
                <a:solidFill>
                  <a:srgbClr val="0E100F"/>
                </a:solidFill>
                <a:latin typeface="Calibri" pitchFamily="34" charset="0"/>
                <a:ea typeface="Calibri" pitchFamily="34" charset="-122"/>
                <a:cs typeface="Calibri" pitchFamily="34" charset="-120"/>
              </a:rPr>
              <a:t>R</a:t>
            </a:r>
            <a:endParaRPr lang="en-US" sz="2400" dirty="0"/>
          </a:p>
        </p:txBody>
      </p:sp>
      <p:sp>
        <p:nvSpPr>
          <p:cNvPr id="8" name="Text 5"/>
          <p:cNvSpPr txBox="1"/>
          <p:nvPr/>
        </p:nvSpPr>
        <p:spPr>
          <a:xfrm>
            <a:off x="1066800" y="2984500"/>
            <a:ext cx="2876550" cy="635000"/>
          </a:xfrm>
          <a:prstGeom prst="rect">
            <a:avLst/>
          </a:prstGeom>
          <a:noFill/>
          <a:ln/>
        </p:spPr>
        <p:txBody>
          <a:bodyPr wrap="square" lIns="0" tIns="0" rIns="0" bIns="0" rtlCol="0" anchor="t"/>
          <a:lstStyle/>
          <a:p>
            <a:pPr indent="0" marL="0">
              <a:buNone/>
            </a:pPr>
            <a:r>
              <a:rPr lang="en-US" sz="2000" b="1" dirty="0">
                <a:solidFill>
                  <a:srgbClr val="14201A"/>
                </a:solidFill>
                <a:latin typeface="Calibri" pitchFamily="34" charset="0"/>
                <a:ea typeface="Calibri" pitchFamily="34" charset="-122"/>
                <a:cs typeface="Calibri" pitchFamily="34" charset="-120"/>
              </a:rPr>
              <a:t>Resident or contractor</a:t>
            </a:r>
            <a:endParaRPr lang="en-US" sz="2000" dirty="0"/>
          </a:p>
        </p:txBody>
      </p:sp>
      <p:sp>
        <p:nvSpPr>
          <p:cNvPr id="9" name="Text 6"/>
          <p:cNvSpPr txBox="1"/>
          <p:nvPr/>
        </p:nvSpPr>
        <p:spPr>
          <a:xfrm>
            <a:off x="1066800" y="3683000"/>
            <a:ext cx="2876550" cy="825500"/>
          </a:xfrm>
          <a:prstGeom prst="rect">
            <a:avLst/>
          </a:prstGeom>
          <a:noFill/>
          <a:ln/>
        </p:spPr>
        <p:txBody>
          <a:bodyPr wrap="square" lIns="0" tIns="0" rIns="0" bIns="0" rtlCol="0" anchor="t"/>
          <a:lstStyle/>
          <a:p>
            <a:pPr indent="0" marL="0">
              <a:buNone/>
            </a:pPr>
            <a:r>
              <a:rPr lang="en-US" sz="1400" dirty="0">
                <a:solidFill>
                  <a:srgbClr val="3E4A3F"/>
                </a:solidFill>
                <a:latin typeface="Calibri" pitchFamily="34" charset="0"/>
                <a:ea typeface="Calibri" pitchFamily="34" charset="-122"/>
                <a:cs typeface="Calibri" pitchFamily="34" charset="-120"/>
              </a:rPr>
              <a:t>Wants a quick, free way to clear strip-out without extra skip bins.</a:t>
            </a:r>
            <a:endParaRPr lang="en-US" sz="1400" dirty="0"/>
          </a:p>
        </p:txBody>
      </p:sp>
      <p:sp>
        <p:nvSpPr>
          <p:cNvPr id="10" name="Shape 7"/>
          <p:cNvSpPr/>
          <p:nvPr/>
        </p:nvSpPr>
        <p:spPr>
          <a:xfrm>
            <a:off x="1066800" y="4635500"/>
            <a:ext cx="2876550" cy="0"/>
          </a:xfrm>
          <a:prstGeom prst="line">
            <a:avLst/>
          </a:prstGeom>
          <a:noFill/>
          <a:ln w="12700">
            <a:solidFill>
              <a:srgbClr val="D8D3B6"/>
            </a:solidFill>
            <a:prstDash val="solid"/>
          </a:ln>
        </p:spPr>
      </p:sp>
      <p:sp>
        <p:nvSpPr>
          <p:cNvPr id="11" name="Text 8"/>
          <p:cNvSpPr txBox="1"/>
          <p:nvPr/>
        </p:nvSpPr>
        <p:spPr>
          <a:xfrm>
            <a:off x="1066800" y="4762500"/>
            <a:ext cx="2876550" cy="190500"/>
          </a:xfrm>
          <a:prstGeom prst="rect">
            <a:avLst/>
          </a:prstGeom>
          <a:noFill/>
          <a:ln/>
        </p:spPr>
        <p:txBody>
          <a:bodyPr wrap="square" lIns="0" tIns="0" rIns="0" bIns="0" rtlCol="0" anchor="t"/>
          <a:lstStyle/>
          <a:p>
            <a:pPr indent="0" marL="0">
              <a:buNone/>
            </a:pPr>
            <a:r>
              <a:rPr lang="en-US" sz="1200" b="1" spc="200" kern="0" dirty="0">
                <a:solidFill>
                  <a:srgbClr val="0A6B28"/>
                </a:solidFill>
                <a:latin typeface="Calibri" pitchFamily="34" charset="0"/>
                <a:ea typeface="Calibri" pitchFamily="34" charset="-122"/>
                <a:cs typeface="Calibri" pitchFamily="34" charset="-120"/>
              </a:rPr>
              <a:t>GETS</a:t>
            </a:r>
            <a:endParaRPr lang="en-US" sz="1200" dirty="0"/>
          </a:p>
        </p:txBody>
      </p:sp>
      <p:sp>
        <p:nvSpPr>
          <p:cNvPr id="12" name="Text 9"/>
          <p:cNvSpPr txBox="1"/>
          <p:nvPr/>
        </p:nvSpPr>
        <p:spPr>
          <a:xfrm>
            <a:off x="1066800" y="5003800"/>
            <a:ext cx="2876550" cy="508000"/>
          </a:xfrm>
          <a:prstGeom prst="rect">
            <a:avLst/>
          </a:prstGeom>
          <a:noFill/>
          <a:ln/>
        </p:spPr>
        <p:txBody>
          <a:bodyPr wrap="square" lIns="0" tIns="0" rIns="0" bIns="0" rtlCol="0" anchor="t"/>
          <a:lstStyle/>
          <a:p>
            <a:pPr indent="0" marL="0">
              <a:buNone/>
            </a:pPr>
            <a:r>
              <a:rPr lang="en-US" sz="1400" b="1" dirty="0">
                <a:solidFill>
                  <a:srgbClr val="14201A"/>
                </a:solidFill>
                <a:latin typeface="Calibri" pitchFamily="34" charset="0"/>
                <a:ea typeface="Calibri" pitchFamily="34" charset="-122"/>
                <a:cs typeface="Calibri" pitchFamily="34" charset="-120"/>
              </a:rPr>
              <a:t>A one-minute log and green points</a:t>
            </a:r>
            <a:endParaRPr lang="en-US" sz="1400" dirty="0"/>
          </a:p>
        </p:txBody>
      </p:sp>
      <p:sp>
        <p:nvSpPr>
          <p:cNvPr id="13" name="Shape 10"/>
          <p:cNvSpPr/>
          <p:nvPr/>
        </p:nvSpPr>
        <p:spPr>
          <a:xfrm>
            <a:off x="4402646" y="2095500"/>
            <a:ext cx="3384550" cy="3556000"/>
          </a:xfrm>
          <a:prstGeom prst="roundRect">
            <a:avLst>
              <a:gd name="adj" fmla="val 5253"/>
            </a:avLst>
          </a:prstGeom>
          <a:solidFill>
            <a:srgbClr val="FFFDF2"/>
          </a:solidFill>
          <a:ln w="9525">
            <a:solidFill>
              <a:srgbClr val="D8D3B6"/>
            </a:solidFill>
            <a:prstDash val="solid"/>
          </a:ln>
        </p:spPr>
      </p:sp>
      <p:sp>
        <p:nvSpPr>
          <p:cNvPr id="14" name="Shape 11"/>
          <p:cNvSpPr/>
          <p:nvPr/>
        </p:nvSpPr>
        <p:spPr>
          <a:xfrm>
            <a:off x="4656646" y="2349500"/>
            <a:ext cx="508000" cy="508000"/>
          </a:xfrm>
          <a:prstGeom prst="ellipse">
            <a:avLst/>
          </a:prstGeom>
          <a:solidFill>
            <a:srgbClr val="00BAE2"/>
          </a:solidFill>
          <a:ln/>
        </p:spPr>
      </p:sp>
      <p:sp>
        <p:nvSpPr>
          <p:cNvPr id="15" name="Text 12"/>
          <p:cNvSpPr txBox="1"/>
          <p:nvPr/>
        </p:nvSpPr>
        <p:spPr>
          <a:xfrm>
            <a:off x="4656646" y="2349500"/>
            <a:ext cx="508000" cy="508000"/>
          </a:xfrm>
          <a:prstGeom prst="rect">
            <a:avLst/>
          </a:prstGeom>
          <a:noFill/>
          <a:ln/>
        </p:spPr>
        <p:txBody>
          <a:bodyPr wrap="square" lIns="0" tIns="0" rIns="0" bIns="0" rtlCol="0" anchor="ctr"/>
          <a:lstStyle/>
          <a:p>
            <a:pPr algn="ctr" indent="0" marL="0">
              <a:buNone/>
            </a:pPr>
            <a:r>
              <a:rPr lang="en-US" sz="2400" b="1" dirty="0">
                <a:solidFill>
                  <a:srgbClr val="0E100F"/>
                </a:solidFill>
                <a:latin typeface="Calibri" pitchFamily="34" charset="0"/>
                <a:ea typeface="Calibri" pitchFamily="34" charset="-122"/>
                <a:cs typeface="Calibri" pitchFamily="34" charset="-120"/>
              </a:rPr>
              <a:t>N</a:t>
            </a:r>
            <a:endParaRPr lang="en-US" sz="2400" dirty="0"/>
          </a:p>
        </p:txBody>
      </p:sp>
      <p:sp>
        <p:nvSpPr>
          <p:cNvPr id="16" name="Text 13"/>
          <p:cNvSpPr txBox="1"/>
          <p:nvPr/>
        </p:nvSpPr>
        <p:spPr>
          <a:xfrm>
            <a:off x="4656646" y="2984500"/>
            <a:ext cx="2876550" cy="635000"/>
          </a:xfrm>
          <a:prstGeom prst="rect">
            <a:avLst/>
          </a:prstGeom>
          <a:noFill/>
          <a:ln/>
        </p:spPr>
        <p:txBody>
          <a:bodyPr wrap="square" lIns="0" tIns="0" rIns="0" bIns="0" rtlCol="0" anchor="t"/>
          <a:lstStyle/>
          <a:p>
            <a:pPr indent="0" marL="0">
              <a:buNone/>
            </a:pPr>
            <a:r>
              <a:rPr lang="en-US" sz="2000" b="1" dirty="0">
                <a:solidFill>
                  <a:srgbClr val="14201A"/>
                </a:solidFill>
                <a:latin typeface="Calibri" pitchFamily="34" charset="0"/>
                <a:ea typeface="Calibri" pitchFamily="34" charset="-122"/>
                <a:cs typeface="Calibri" pitchFamily="34" charset="-120"/>
              </a:rPr>
              <a:t>Neighbour</a:t>
            </a:r>
            <a:endParaRPr lang="en-US" sz="2000" dirty="0"/>
          </a:p>
        </p:txBody>
      </p:sp>
      <p:sp>
        <p:nvSpPr>
          <p:cNvPr id="17" name="Text 14"/>
          <p:cNvSpPr txBox="1"/>
          <p:nvPr/>
        </p:nvSpPr>
        <p:spPr>
          <a:xfrm>
            <a:off x="4656646" y="3683000"/>
            <a:ext cx="2876550" cy="825500"/>
          </a:xfrm>
          <a:prstGeom prst="rect">
            <a:avLst/>
          </a:prstGeom>
          <a:noFill/>
          <a:ln/>
        </p:spPr>
        <p:txBody>
          <a:bodyPr wrap="square" lIns="0" tIns="0" rIns="0" bIns="0" rtlCol="0" anchor="t"/>
          <a:lstStyle/>
          <a:p>
            <a:pPr indent="0" marL="0">
              <a:buNone/>
            </a:pPr>
            <a:r>
              <a:rPr lang="en-US" sz="1400" dirty="0">
                <a:solidFill>
                  <a:srgbClr val="3E4A3F"/>
                </a:solidFill>
                <a:latin typeface="Calibri" pitchFamily="34" charset="0"/>
                <a:ea typeface="Calibri" pitchFamily="34" charset="-122"/>
                <a:cs typeface="Calibri" pitchFamily="34" charset="-120"/>
              </a:rPr>
              <a:t>Needs a few tiles, a door or a sink, and would rather not buy new.</a:t>
            </a:r>
            <a:endParaRPr lang="en-US" sz="1400" dirty="0"/>
          </a:p>
        </p:txBody>
      </p:sp>
      <p:sp>
        <p:nvSpPr>
          <p:cNvPr id="18" name="Shape 15"/>
          <p:cNvSpPr/>
          <p:nvPr/>
        </p:nvSpPr>
        <p:spPr>
          <a:xfrm>
            <a:off x="4656646" y="4635500"/>
            <a:ext cx="2876550" cy="0"/>
          </a:xfrm>
          <a:prstGeom prst="line">
            <a:avLst/>
          </a:prstGeom>
          <a:noFill/>
          <a:ln w="12700">
            <a:solidFill>
              <a:srgbClr val="D8D3B6"/>
            </a:solidFill>
            <a:prstDash val="solid"/>
          </a:ln>
        </p:spPr>
      </p:sp>
      <p:sp>
        <p:nvSpPr>
          <p:cNvPr id="19" name="Text 16"/>
          <p:cNvSpPr txBox="1"/>
          <p:nvPr/>
        </p:nvSpPr>
        <p:spPr>
          <a:xfrm>
            <a:off x="4656646" y="4762500"/>
            <a:ext cx="2876550" cy="190500"/>
          </a:xfrm>
          <a:prstGeom prst="rect">
            <a:avLst/>
          </a:prstGeom>
          <a:noFill/>
          <a:ln/>
        </p:spPr>
        <p:txBody>
          <a:bodyPr wrap="square" lIns="0" tIns="0" rIns="0" bIns="0" rtlCol="0" anchor="t"/>
          <a:lstStyle/>
          <a:p>
            <a:pPr indent="0" marL="0">
              <a:buNone/>
            </a:pPr>
            <a:r>
              <a:rPr lang="en-US" sz="1200" b="1" spc="200" kern="0" dirty="0">
                <a:solidFill>
                  <a:srgbClr val="0A6B28"/>
                </a:solidFill>
                <a:latin typeface="Calibri" pitchFamily="34" charset="0"/>
                <a:ea typeface="Calibri" pitchFamily="34" charset="-122"/>
                <a:cs typeface="Calibri" pitchFamily="34" charset="-120"/>
              </a:rPr>
              <a:t>GETS</a:t>
            </a:r>
            <a:endParaRPr lang="en-US" sz="1200" dirty="0"/>
          </a:p>
        </p:txBody>
      </p:sp>
      <p:sp>
        <p:nvSpPr>
          <p:cNvPr id="20" name="Text 17"/>
          <p:cNvSpPr txBox="1"/>
          <p:nvPr/>
        </p:nvSpPr>
        <p:spPr>
          <a:xfrm>
            <a:off x="4656646" y="5003800"/>
            <a:ext cx="2876550" cy="508000"/>
          </a:xfrm>
          <a:prstGeom prst="rect">
            <a:avLst/>
          </a:prstGeom>
          <a:noFill/>
          <a:ln/>
        </p:spPr>
        <p:txBody>
          <a:bodyPr wrap="square" lIns="0" tIns="0" rIns="0" bIns="0" rtlCol="0" anchor="t"/>
          <a:lstStyle/>
          <a:p>
            <a:pPr indent="0" marL="0">
              <a:buNone/>
            </a:pPr>
            <a:r>
              <a:rPr lang="en-US" sz="1400" b="1" dirty="0">
                <a:solidFill>
                  <a:srgbClr val="14201A"/>
                </a:solidFill>
                <a:latin typeface="Calibri" pitchFamily="34" charset="0"/>
                <a:ea typeface="Calibri" pitchFamily="34" charset="-122"/>
                <a:cs typeface="Calibri" pitchFamily="34" charset="-120"/>
              </a:rPr>
              <a:t>Free materials close to home</a:t>
            </a:r>
            <a:endParaRPr lang="en-US" sz="1400" dirty="0"/>
          </a:p>
        </p:txBody>
      </p:sp>
      <p:sp>
        <p:nvSpPr>
          <p:cNvPr id="21" name="Shape 18"/>
          <p:cNvSpPr/>
          <p:nvPr/>
        </p:nvSpPr>
        <p:spPr>
          <a:xfrm>
            <a:off x="7992491" y="2095500"/>
            <a:ext cx="3384550" cy="3556000"/>
          </a:xfrm>
          <a:prstGeom prst="roundRect">
            <a:avLst>
              <a:gd name="adj" fmla="val 5253"/>
            </a:avLst>
          </a:prstGeom>
          <a:solidFill>
            <a:srgbClr val="FFFDF2"/>
          </a:solidFill>
          <a:ln w="9525">
            <a:solidFill>
              <a:srgbClr val="D8D3B6"/>
            </a:solidFill>
            <a:prstDash val="solid"/>
          </a:ln>
        </p:spPr>
      </p:sp>
      <p:sp>
        <p:nvSpPr>
          <p:cNvPr id="22" name="Shape 19"/>
          <p:cNvSpPr/>
          <p:nvPr/>
        </p:nvSpPr>
        <p:spPr>
          <a:xfrm>
            <a:off x="8246491" y="2349500"/>
            <a:ext cx="508000" cy="508000"/>
          </a:xfrm>
          <a:prstGeom prst="ellipse">
            <a:avLst/>
          </a:prstGeom>
          <a:solidFill>
            <a:srgbClr val="9D95FF"/>
          </a:solidFill>
          <a:ln/>
        </p:spPr>
      </p:sp>
      <p:sp>
        <p:nvSpPr>
          <p:cNvPr id="23" name="Text 20"/>
          <p:cNvSpPr txBox="1"/>
          <p:nvPr/>
        </p:nvSpPr>
        <p:spPr>
          <a:xfrm>
            <a:off x="8246491" y="2349500"/>
            <a:ext cx="508000" cy="508000"/>
          </a:xfrm>
          <a:prstGeom prst="rect">
            <a:avLst/>
          </a:prstGeom>
          <a:noFill/>
          <a:ln/>
        </p:spPr>
        <p:txBody>
          <a:bodyPr wrap="square" lIns="0" tIns="0" rIns="0" bIns="0" rtlCol="0" anchor="ctr"/>
          <a:lstStyle/>
          <a:p>
            <a:pPr algn="ctr" indent="0" marL="0">
              <a:buNone/>
            </a:pPr>
            <a:r>
              <a:rPr lang="en-US" sz="2400" b="1" dirty="0">
                <a:solidFill>
                  <a:srgbClr val="0E100F"/>
                </a:solidFill>
                <a:latin typeface="Calibri" pitchFamily="34" charset="0"/>
                <a:ea typeface="Calibri" pitchFamily="34" charset="-122"/>
                <a:cs typeface="Calibri" pitchFamily="34" charset="-120"/>
              </a:rPr>
              <a:t>T</a:t>
            </a:r>
            <a:endParaRPr lang="en-US" sz="2400" dirty="0"/>
          </a:p>
        </p:txBody>
      </p:sp>
      <p:sp>
        <p:nvSpPr>
          <p:cNvPr id="24" name="Text 21"/>
          <p:cNvSpPr txBox="1"/>
          <p:nvPr/>
        </p:nvSpPr>
        <p:spPr>
          <a:xfrm>
            <a:off x="8246491" y="2984500"/>
            <a:ext cx="2876550" cy="635000"/>
          </a:xfrm>
          <a:prstGeom prst="rect">
            <a:avLst/>
          </a:prstGeom>
          <a:noFill/>
          <a:ln/>
        </p:spPr>
        <p:txBody>
          <a:bodyPr wrap="square" lIns="0" tIns="0" rIns="0" bIns="0" rtlCol="0" anchor="t"/>
          <a:lstStyle/>
          <a:p>
            <a:pPr indent="0" marL="0">
              <a:buNone/>
            </a:pPr>
            <a:r>
              <a:rPr lang="en-US" sz="2000" b="1" dirty="0">
                <a:solidFill>
                  <a:srgbClr val="14201A"/>
                </a:solidFill>
                <a:latin typeface="Calibri" pitchFamily="34" charset="0"/>
                <a:ea typeface="Calibri" pitchFamily="34" charset="-122"/>
                <a:cs typeface="Calibri" pitchFamily="34" charset="-120"/>
              </a:rPr>
              <a:t>Township management</a:t>
            </a:r>
            <a:endParaRPr lang="en-US" sz="2000" dirty="0"/>
          </a:p>
        </p:txBody>
      </p:sp>
      <p:sp>
        <p:nvSpPr>
          <p:cNvPr id="25" name="Text 22"/>
          <p:cNvSpPr txBox="1"/>
          <p:nvPr/>
        </p:nvSpPr>
        <p:spPr>
          <a:xfrm>
            <a:off x="8246491" y="3683000"/>
            <a:ext cx="2876550" cy="825500"/>
          </a:xfrm>
          <a:prstGeom prst="rect">
            <a:avLst/>
          </a:prstGeom>
          <a:noFill/>
          <a:ln/>
        </p:spPr>
        <p:txBody>
          <a:bodyPr wrap="square" lIns="0" tIns="0" rIns="0" bIns="0" rtlCol="0" anchor="t"/>
          <a:lstStyle/>
          <a:p>
            <a:pPr indent="0" marL="0">
              <a:buNone/>
            </a:pPr>
            <a:r>
              <a:rPr lang="en-US" sz="1400" dirty="0">
                <a:solidFill>
                  <a:srgbClr val="3E4A3F"/>
                </a:solidFill>
                <a:latin typeface="Calibri" pitchFamily="34" charset="0"/>
                <a:ea typeface="Calibri" pitchFamily="34" charset="-122"/>
                <a:cs typeface="Calibri" pitchFamily="34" charset="-120"/>
              </a:rPr>
              <a:t>Needs less waste, sustainability numbers and a plan for the next handover wave.</a:t>
            </a:r>
            <a:endParaRPr lang="en-US" sz="1400" dirty="0"/>
          </a:p>
        </p:txBody>
      </p:sp>
      <p:sp>
        <p:nvSpPr>
          <p:cNvPr id="26" name="Shape 23"/>
          <p:cNvSpPr/>
          <p:nvPr/>
        </p:nvSpPr>
        <p:spPr>
          <a:xfrm>
            <a:off x="8246491" y="4635500"/>
            <a:ext cx="2876550" cy="0"/>
          </a:xfrm>
          <a:prstGeom prst="line">
            <a:avLst/>
          </a:prstGeom>
          <a:noFill/>
          <a:ln w="12700">
            <a:solidFill>
              <a:srgbClr val="D8D3B6"/>
            </a:solidFill>
            <a:prstDash val="solid"/>
          </a:ln>
        </p:spPr>
      </p:sp>
      <p:sp>
        <p:nvSpPr>
          <p:cNvPr id="27" name="Text 24"/>
          <p:cNvSpPr txBox="1"/>
          <p:nvPr/>
        </p:nvSpPr>
        <p:spPr>
          <a:xfrm>
            <a:off x="8246491" y="4762500"/>
            <a:ext cx="2876550" cy="190500"/>
          </a:xfrm>
          <a:prstGeom prst="rect">
            <a:avLst/>
          </a:prstGeom>
          <a:noFill/>
          <a:ln/>
        </p:spPr>
        <p:txBody>
          <a:bodyPr wrap="square" lIns="0" tIns="0" rIns="0" bIns="0" rtlCol="0" anchor="t"/>
          <a:lstStyle/>
          <a:p>
            <a:pPr indent="0" marL="0">
              <a:buNone/>
            </a:pPr>
            <a:r>
              <a:rPr lang="en-US" sz="1200" b="1" spc="200" kern="0" dirty="0">
                <a:solidFill>
                  <a:srgbClr val="0A6B28"/>
                </a:solidFill>
                <a:latin typeface="Calibri" pitchFamily="34" charset="0"/>
                <a:ea typeface="Calibri" pitchFamily="34" charset="-122"/>
                <a:cs typeface="Calibri" pitchFamily="34" charset="-120"/>
              </a:rPr>
              <a:t>GETS</a:t>
            </a:r>
            <a:endParaRPr lang="en-US" sz="1200" dirty="0"/>
          </a:p>
        </p:txBody>
      </p:sp>
      <p:sp>
        <p:nvSpPr>
          <p:cNvPr id="28" name="Text 25"/>
          <p:cNvSpPr txBox="1"/>
          <p:nvPr/>
        </p:nvSpPr>
        <p:spPr>
          <a:xfrm>
            <a:off x="8246491" y="5003800"/>
            <a:ext cx="2876550" cy="508000"/>
          </a:xfrm>
          <a:prstGeom prst="rect">
            <a:avLst/>
          </a:prstGeom>
          <a:noFill/>
          <a:ln/>
        </p:spPr>
        <p:txBody>
          <a:bodyPr wrap="square" lIns="0" tIns="0" rIns="0" bIns="0" rtlCol="0" anchor="t"/>
          <a:lstStyle/>
          <a:p>
            <a:pPr indent="0" marL="0">
              <a:buNone/>
            </a:pPr>
            <a:r>
              <a:rPr lang="en-US" sz="1400" b="1" dirty="0">
                <a:solidFill>
                  <a:srgbClr val="14201A"/>
                </a:solidFill>
                <a:latin typeface="Calibri" pitchFamily="34" charset="0"/>
                <a:ea typeface="Calibri" pitchFamily="34" charset="-122"/>
                <a:cs typeface="Calibri" pitchFamily="34" charset="-120"/>
              </a:rPr>
              <a:t>A planner, a routing console and a ledger</a:t>
            </a:r>
            <a:endParaRPr lang="en-US" sz="1400" dirty="0"/>
          </a:p>
        </p:txBody>
      </p:sp>
      <p:sp>
        <p:nvSpPr>
          <p:cNvPr id="29" name="Text 26"/>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6A6F5E"/>
                </a:solidFill>
                <a:latin typeface="Calibri" pitchFamily="34" charset="0"/>
                <a:ea typeface="Calibri" pitchFamily="34" charset="-122"/>
                <a:cs typeface="Calibri" pitchFamily="34" charset="-120"/>
              </a:rPr>
              <a:t>CircularFit · Planet track</a:t>
            </a:r>
            <a:endParaRPr lang="en-US" sz="1200" dirty="0"/>
          </a:p>
        </p:txBody>
      </p:sp>
      <p:sp>
        <p:nvSpPr>
          <p:cNvPr id="30" name="Text 27"/>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6A6F5E"/>
                </a:solidFill>
                <a:latin typeface="Calibri" pitchFamily="34" charset="0"/>
                <a:ea typeface="Calibri" pitchFamily="34" charset="-122"/>
                <a:cs typeface="Calibri"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E448"/>
                </a:solidFill>
                <a:latin typeface="Calibri" pitchFamily="34" charset="0"/>
                <a:ea typeface="Calibri" pitchFamily="34" charset="-122"/>
                <a:cs typeface="Calibri" pitchFamily="34" charset="-120"/>
              </a:rPr>
              <a:t>3 · THE SOLUTION</a:t>
            </a:r>
            <a:endParaRPr lang="en-US" sz="1400" dirty="0"/>
          </a:p>
        </p:txBody>
      </p:sp>
      <p:sp>
        <p:nvSpPr>
          <p:cNvPr id="4" name="Text 1"/>
          <p:cNvSpPr txBox="1"/>
          <p:nvPr/>
        </p:nvSpPr>
        <p:spPr>
          <a:xfrm>
            <a:off x="812800" y="1168400"/>
            <a:ext cx="10566400" cy="762000"/>
          </a:xfrm>
          <a:prstGeom prst="rect">
            <a:avLst/>
          </a:prstGeom>
          <a:noFill/>
          <a:ln/>
        </p:spPr>
        <p:txBody>
          <a:bodyPr wrap="square" lIns="0" tIns="0" rIns="0" bIns="0" rtlCol="0" anchor="t"/>
          <a:lstStyle/>
          <a:p>
            <a:pPr indent="0" marL="0">
              <a:lnSpc>
                <a:spcPct val="95000"/>
              </a:lnSpc>
              <a:buNone/>
            </a:pPr>
            <a:r>
              <a:rPr lang="en-US" sz="5200" b="1" dirty="0">
                <a:solidFill>
                  <a:srgbClr val="FFFCE1"/>
                </a:solidFill>
                <a:latin typeface="Calibri" pitchFamily="34" charset="0"/>
                <a:ea typeface="Calibri" pitchFamily="34" charset="-122"/>
                <a:cs typeface="Calibri" pitchFamily="34" charset="-120"/>
              </a:rPr>
              <a:t>Log it. Route it. </a:t>
            </a:r>
            <a:pPr indent="0" marL="0">
              <a:lnSpc>
                <a:spcPct val="95000"/>
              </a:lnSpc>
              <a:buNone/>
            </a:pPr>
            <a:r>
              <a:rPr lang="en-US" sz="5200" b="1" dirty="0">
                <a:solidFill>
                  <a:srgbClr val="0AE448"/>
                </a:solidFill>
                <a:latin typeface="Calibri" pitchFamily="34" charset="0"/>
                <a:ea typeface="Calibri" pitchFamily="34" charset="-122"/>
                <a:cs typeface="Calibri" pitchFamily="34" charset="-120"/>
              </a:rPr>
              <a:t>Prove it.</a:t>
            </a:r>
            <a:endParaRPr lang="en-US" sz="5200" dirty="0"/>
          </a:p>
        </p:txBody>
      </p:sp>
      <p:pic>
        <p:nvPicPr>
          <p:cNvPr id="5" name="Image 0" descr="CircularFit Log items screen">    </p:cNvPr>
          <p:cNvPicPr>
            <a:picLocks noChangeAspect="1"/>
          </p:cNvPicPr>
          <p:nvPr/>
        </p:nvPicPr>
        <p:blipFill>
          <a:blip r:embed="rId1"/>
          <a:stretch>
            <a:fillRect/>
          </a:stretch>
        </p:blipFill>
        <p:spPr>
          <a:xfrm>
            <a:off x="812800" y="2159000"/>
            <a:ext cx="3352800" cy="2095500"/>
          </a:xfrm>
          <a:prstGeom prst="rect">
            <a:avLst/>
          </a:prstGeom>
        </p:spPr>
      </p:pic>
      <p:sp>
        <p:nvSpPr>
          <p:cNvPr id="6" name="Text 2"/>
          <p:cNvSpPr txBox="1"/>
          <p:nvPr/>
        </p:nvSpPr>
        <p:spPr>
          <a:xfrm>
            <a:off x="812800" y="4381500"/>
            <a:ext cx="3352800" cy="317500"/>
          </a:xfrm>
          <a:prstGeom prst="rect">
            <a:avLst/>
          </a:prstGeom>
          <a:noFill/>
          <a:ln/>
        </p:spPr>
        <p:txBody>
          <a:bodyPr wrap="square" lIns="0" tIns="0" rIns="0" bIns="0" rtlCol="0" anchor="t"/>
          <a:lstStyle/>
          <a:p>
            <a:pPr indent="0" marL="0">
              <a:buNone/>
            </a:pPr>
            <a:r>
              <a:rPr lang="en-US" sz="2000" b="1" dirty="0">
                <a:solidFill>
                  <a:srgbClr val="ABFF84"/>
                </a:solidFill>
                <a:latin typeface="Calibri" pitchFamily="34" charset="0"/>
                <a:ea typeface="Calibri" pitchFamily="34" charset="-122"/>
                <a:cs typeface="Calibri" pitchFamily="34" charset="-120"/>
              </a:rPr>
              <a:t>Log</a:t>
            </a:r>
            <a:endParaRPr lang="en-US" sz="2000" dirty="0"/>
          </a:p>
        </p:txBody>
      </p:sp>
      <p:sp>
        <p:nvSpPr>
          <p:cNvPr id="7" name="Text 3"/>
          <p:cNvSpPr txBox="1"/>
          <p:nvPr/>
        </p:nvSpPr>
        <p:spPr>
          <a:xfrm>
            <a:off x="812800" y="4749800"/>
            <a:ext cx="3352800" cy="635000"/>
          </a:xfrm>
          <a:prstGeom prst="rect">
            <a:avLst/>
          </a:prstGeom>
          <a:noFill/>
          <a:ln/>
        </p:spPr>
        <p:txBody>
          <a:bodyPr wrap="square" lIns="0" tIns="0" rIns="0" bIns="0" rtlCol="0" anchor="t"/>
          <a:lstStyle/>
          <a:p>
            <a:pPr indent="0" marL="0">
              <a:buNone/>
            </a:pPr>
            <a:r>
              <a:rPr lang="en-US" sz="1400" dirty="0">
                <a:solidFill>
                  <a:srgbClr val="BBBAA6"/>
                </a:solidFill>
                <a:latin typeface="Calibri" pitchFamily="34" charset="0"/>
                <a:ea typeface="Calibri" pitchFamily="34" charset="-122"/>
                <a:cs typeface="Calibri" pitchFamily="34" charset="-120"/>
              </a:rPr>
              <a:t>A resident logs leftovers and sees the likely route first.</a:t>
            </a:r>
            <a:endParaRPr lang="en-US" sz="1400" dirty="0"/>
          </a:p>
        </p:txBody>
      </p:sp>
      <p:pic>
        <p:nvPicPr>
          <p:cNvPr id="8" name="Image 1" descr="CircularFit Hand-offs screen">    </p:cNvPr>
          <p:cNvPicPr>
            <a:picLocks noChangeAspect="1"/>
          </p:cNvPicPr>
          <p:nvPr/>
        </p:nvPicPr>
        <p:blipFill>
          <a:blip r:embed="rId2"/>
          <a:stretch>
            <a:fillRect/>
          </a:stretch>
        </p:blipFill>
        <p:spPr>
          <a:xfrm>
            <a:off x="4368800" y="2159000"/>
            <a:ext cx="3352800" cy="2095500"/>
          </a:xfrm>
          <a:prstGeom prst="rect">
            <a:avLst/>
          </a:prstGeom>
        </p:spPr>
      </p:pic>
      <p:sp>
        <p:nvSpPr>
          <p:cNvPr id="9" name="Text 4"/>
          <p:cNvSpPr txBox="1"/>
          <p:nvPr/>
        </p:nvSpPr>
        <p:spPr>
          <a:xfrm>
            <a:off x="4368800" y="4381500"/>
            <a:ext cx="3352800" cy="317500"/>
          </a:xfrm>
          <a:prstGeom prst="rect">
            <a:avLst/>
          </a:prstGeom>
          <a:noFill/>
          <a:ln/>
        </p:spPr>
        <p:txBody>
          <a:bodyPr wrap="square" lIns="0" tIns="0" rIns="0" bIns="0" rtlCol="0" anchor="t"/>
          <a:lstStyle/>
          <a:p>
            <a:pPr indent="0" marL="0">
              <a:buNone/>
            </a:pPr>
            <a:r>
              <a:rPr lang="en-US" sz="2000" b="1" dirty="0">
                <a:solidFill>
                  <a:srgbClr val="00BAE2"/>
                </a:solidFill>
                <a:latin typeface="Calibri" pitchFamily="34" charset="0"/>
                <a:ea typeface="Calibri" pitchFamily="34" charset="-122"/>
                <a:cs typeface="Calibri" pitchFamily="34" charset="-120"/>
              </a:rPr>
              <a:t>Agree</a:t>
            </a:r>
            <a:endParaRPr lang="en-US" sz="2000" dirty="0"/>
          </a:p>
        </p:txBody>
      </p:sp>
      <p:sp>
        <p:nvSpPr>
          <p:cNvPr id="10" name="Text 5"/>
          <p:cNvSpPr txBox="1"/>
          <p:nvPr/>
        </p:nvSpPr>
        <p:spPr>
          <a:xfrm>
            <a:off x="4368800" y="4749800"/>
            <a:ext cx="3352800" cy="635000"/>
          </a:xfrm>
          <a:prstGeom prst="rect">
            <a:avLst/>
          </a:prstGeom>
          <a:noFill/>
          <a:ln/>
        </p:spPr>
        <p:txBody>
          <a:bodyPr wrap="square" lIns="0" tIns="0" rIns="0" bIns="0" rtlCol="0" anchor="t"/>
          <a:lstStyle/>
          <a:p>
            <a:pPr indent="0" marL="0">
              <a:buNone/>
            </a:pPr>
            <a:r>
              <a:rPr lang="en-US" sz="1400" dirty="0">
                <a:solidFill>
                  <a:srgbClr val="BBBAA6"/>
                </a:solidFill>
                <a:latin typeface="Calibri" pitchFamily="34" charset="0"/>
                <a:ea typeface="Calibri" pitchFamily="34" charset="-122"/>
                <a:cs typeface="Calibri" pitchFamily="34" charset="-120"/>
              </a:rPr>
              <a:t>Donor and requester each say yes or no on their own page.</a:t>
            </a:r>
            <a:endParaRPr lang="en-US" sz="1400" dirty="0"/>
          </a:p>
        </p:txBody>
      </p:sp>
      <p:pic>
        <p:nvPicPr>
          <p:cNvPr id="11" name="Image 2" descr="CircularFit admin overview">    </p:cNvPr>
          <p:cNvPicPr>
            <a:picLocks noChangeAspect="1"/>
          </p:cNvPicPr>
          <p:nvPr/>
        </p:nvPicPr>
        <p:blipFill>
          <a:blip r:embed="rId3"/>
          <a:stretch>
            <a:fillRect/>
          </a:stretch>
        </p:blipFill>
        <p:spPr>
          <a:xfrm>
            <a:off x="7924800" y="2159000"/>
            <a:ext cx="3352800" cy="2095500"/>
          </a:xfrm>
          <a:prstGeom prst="rect">
            <a:avLst/>
          </a:prstGeom>
        </p:spPr>
      </p:pic>
      <p:sp>
        <p:nvSpPr>
          <p:cNvPr id="12" name="Text 6"/>
          <p:cNvSpPr txBox="1"/>
          <p:nvPr/>
        </p:nvSpPr>
        <p:spPr>
          <a:xfrm>
            <a:off x="7924800" y="4381500"/>
            <a:ext cx="3352800" cy="317500"/>
          </a:xfrm>
          <a:prstGeom prst="rect">
            <a:avLst/>
          </a:prstGeom>
          <a:noFill/>
          <a:ln/>
        </p:spPr>
        <p:txBody>
          <a:bodyPr wrap="square" lIns="0" tIns="0" rIns="0" bIns="0" rtlCol="0" anchor="t"/>
          <a:lstStyle/>
          <a:p>
            <a:pPr indent="0" marL="0">
              <a:buNone/>
            </a:pPr>
            <a:r>
              <a:rPr lang="en-US" sz="2000" b="1" dirty="0">
                <a:solidFill>
                  <a:srgbClr val="9D95FF"/>
                </a:solidFill>
                <a:latin typeface="Calibri" pitchFamily="34" charset="0"/>
                <a:ea typeface="Calibri" pitchFamily="34" charset="-122"/>
                <a:cs typeface="Calibri" pitchFamily="34" charset="-120"/>
              </a:rPr>
              <a:t>Prove</a:t>
            </a:r>
            <a:endParaRPr lang="en-US" sz="2000" dirty="0"/>
          </a:p>
        </p:txBody>
      </p:sp>
      <p:sp>
        <p:nvSpPr>
          <p:cNvPr id="13" name="Text 7"/>
          <p:cNvSpPr txBox="1"/>
          <p:nvPr/>
        </p:nvSpPr>
        <p:spPr>
          <a:xfrm>
            <a:off x="7924800" y="4749800"/>
            <a:ext cx="3352800" cy="635000"/>
          </a:xfrm>
          <a:prstGeom prst="rect">
            <a:avLst/>
          </a:prstGeom>
          <a:noFill/>
          <a:ln/>
        </p:spPr>
        <p:txBody>
          <a:bodyPr wrap="square" lIns="0" tIns="0" rIns="0" bIns="0" rtlCol="0" anchor="t"/>
          <a:lstStyle/>
          <a:p>
            <a:pPr indent="0" marL="0">
              <a:buNone/>
            </a:pPr>
            <a:r>
              <a:rPr lang="en-US" sz="1400" dirty="0">
                <a:solidFill>
                  <a:srgbClr val="BBBAA6"/>
                </a:solidFill>
                <a:latin typeface="Calibri" pitchFamily="34" charset="0"/>
                <a:ea typeface="Calibri" pitchFamily="34" charset="-122"/>
                <a:cs typeface="Calibri" pitchFamily="34" charset="-120"/>
              </a:rPr>
              <a:t>The admin confirms, and the ledger feeds the dashboard.</a:t>
            </a:r>
            <a:endParaRPr lang="en-US" sz="1400" dirty="0"/>
          </a:p>
        </p:txBody>
      </p:sp>
      <p:sp>
        <p:nvSpPr>
          <p:cNvPr id="14" name="Text 8"/>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8A8A78"/>
                </a:solidFill>
                <a:latin typeface="Calibri" pitchFamily="34" charset="0"/>
                <a:ea typeface="Calibri" pitchFamily="34" charset="-122"/>
                <a:cs typeface="Calibri" pitchFamily="34" charset="-120"/>
              </a:rPr>
              <a:t>Screens from the working prototype (synthetic data)</a:t>
            </a:r>
            <a:endParaRPr lang="en-US" sz="1200" dirty="0"/>
          </a:p>
        </p:txBody>
      </p:sp>
      <p:sp>
        <p:nvSpPr>
          <p:cNvPr id="15" name="Text 9"/>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8A8A78"/>
                </a:solidFill>
                <a:latin typeface="Calibri" pitchFamily="34" charset="0"/>
                <a:ea typeface="Calibri" pitchFamily="34" charset="-122"/>
                <a:cs typeface="Calibri"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6B28"/>
                </a:solidFill>
                <a:latin typeface="Calibri" pitchFamily="34" charset="0"/>
                <a:ea typeface="Calibri" pitchFamily="34" charset="-122"/>
                <a:cs typeface="Calibri" pitchFamily="34" charset="-120"/>
              </a:rPr>
              <a:t>4 · INNOVATION</a:t>
            </a:r>
            <a:endParaRPr lang="en-US" sz="1400" dirty="0"/>
          </a:p>
        </p:txBody>
      </p:sp>
      <p:sp>
        <p:nvSpPr>
          <p:cNvPr id="4" name="Text 1"/>
          <p:cNvSpPr txBox="1"/>
          <p:nvPr/>
        </p:nvSpPr>
        <p:spPr>
          <a:xfrm>
            <a:off x="812800" y="1168400"/>
            <a:ext cx="10566400" cy="635000"/>
          </a:xfrm>
          <a:prstGeom prst="rect">
            <a:avLst/>
          </a:prstGeom>
          <a:noFill/>
          <a:ln/>
        </p:spPr>
        <p:txBody>
          <a:bodyPr wrap="square" lIns="0" tIns="0" rIns="0" bIns="0" rtlCol="0" anchor="t"/>
          <a:lstStyle/>
          <a:p>
            <a:pPr indent="0" marL="0">
              <a:lnSpc>
                <a:spcPct val="95000"/>
              </a:lnSpc>
              <a:buNone/>
            </a:pPr>
            <a:r>
              <a:rPr lang="en-US" sz="4200" b="1" dirty="0">
                <a:solidFill>
                  <a:srgbClr val="14201A"/>
                </a:solidFill>
                <a:latin typeface="Calibri" pitchFamily="34" charset="0"/>
                <a:ea typeface="Calibri" pitchFamily="34" charset="-122"/>
                <a:cs typeface="Calibri" pitchFamily="34" charset="-120"/>
              </a:rPr>
              <a:t>Not another marketplace</a:t>
            </a:r>
            <a:endParaRPr lang="en-US" sz="4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3169920"/>
                <a:gridCol w="3169920"/>
                <a:gridCol w="4226560"/>
              </a:tblGrid>
              <a:tr h="368300">
                <a:tc>
                  <a:txBody>
                    <a:bodyPr/>
                    <a:lstStyle/>
                    <a:p>
                      <a:pPr indent="0" marL="0">
                        <a:buNone/>
                      </a:pPr>
                      <a:r>
                        <a:rPr lang="en-US" sz="1400" b="1" dirty="0">
                          <a:solidFill>
                            <a:srgbClr val="14201A"/>
                          </a:solidFill>
                          <a:latin typeface="Calibri" pitchFamily="34" charset="0"/>
                          <a:ea typeface="Calibri" pitchFamily="34" charset="-122"/>
                          <a:cs typeface="Calibri" pitchFamily="34" charset="-120"/>
                        </a:rPr>
                        <a:t>What changes</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solidFill>
                      <a:srgbClr val="E2DEC8"/>
                    </a:solidFill>
                  </a:tcPr>
                </a:tc>
                <a:tc>
                  <a:txBody>
                    <a:bodyPr/>
                    <a:lstStyle/>
                    <a:p>
                      <a:pPr indent="0" marL="0">
                        <a:buNone/>
                      </a:pPr>
                      <a:r>
                        <a:rPr lang="en-US" sz="1400" b="1" dirty="0">
                          <a:solidFill>
                            <a:srgbClr val="14201A"/>
                          </a:solidFill>
                          <a:latin typeface="Calibri" pitchFamily="34" charset="0"/>
                          <a:ea typeface="Calibri" pitchFamily="34" charset="-122"/>
                          <a:cs typeface="Calibri" pitchFamily="34" charset="-120"/>
                        </a:rPr>
                        <a:t>Today</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solidFill>
                      <a:srgbClr val="E2DEC8"/>
                    </a:solidFill>
                  </a:tcPr>
                </a:tc>
                <a:tc>
                  <a:txBody>
                    <a:bodyPr/>
                    <a:lstStyle/>
                    <a:p>
                      <a:pPr indent="0" marL="0">
                        <a:buNone/>
                      </a:pPr>
                      <a:r>
                        <a:rPr lang="en-US" sz="1400" b="1" dirty="0">
                          <a:solidFill>
                            <a:srgbClr val="14201A"/>
                          </a:solidFill>
                          <a:latin typeface="Calibri" pitchFamily="34" charset="0"/>
                          <a:ea typeface="Calibri" pitchFamily="34" charset="-122"/>
                          <a:cs typeface="Calibri" pitchFamily="34" charset="-120"/>
                        </a:rPr>
                        <a:t>With CircularFit</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solidFill>
                      <a:srgbClr val="E2DEC8"/>
                    </a:solidFill>
                  </a:tcPr>
                </a:tc>
              </a:tr>
              <a:tr h="368300">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Where strip-out goes</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Skip bin, then landfill</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Best route first, landfill last</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368300">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Who sees the numbers</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Nobody</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Township dashboard and ledger</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368300">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Planning the next wave</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Guesswork</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Handover planner</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368300">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Resident incentive</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Green points</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368300">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Proof it happened</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400" dirty="0">
                          <a:solidFill>
                            <a:srgbClr val="14201A"/>
                          </a:solidFill>
                          <a:latin typeface="Calibri" pitchFamily="34" charset="0"/>
                          <a:ea typeface="Calibri" pitchFamily="34" charset="-122"/>
                          <a:cs typeface="Calibri" pitchFamily="34" charset="-120"/>
                        </a:rPr>
                        <a:t>Two-sided agreement, admin confirms</a:t>
                      </a:r>
                      <a:endParaRPr lang="en-US" sz="14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bl>
          </a:graphicData>
        </a:graphic>
      </p:graphicFrame>
      <p:sp>
        <p:nvSpPr>
          <p:cNvPr id="6" name="Shape 2"/>
          <p:cNvSpPr/>
          <p:nvPr/>
        </p:nvSpPr>
        <p:spPr>
          <a:xfrm>
            <a:off x="812800" y="4381500"/>
            <a:ext cx="2527300" cy="1079500"/>
          </a:xfrm>
          <a:prstGeom prst="roundRect">
            <a:avLst>
              <a:gd name="adj" fmla="val 14118"/>
            </a:avLst>
          </a:prstGeom>
          <a:solidFill>
            <a:srgbClr val="14201A"/>
          </a:solidFill>
          <a:ln/>
        </p:spPr>
      </p:sp>
      <p:sp>
        <p:nvSpPr>
          <p:cNvPr id="7" name="Text 3"/>
          <p:cNvSpPr txBox="1"/>
          <p:nvPr/>
        </p:nvSpPr>
        <p:spPr>
          <a:xfrm>
            <a:off x="990600" y="4546600"/>
            <a:ext cx="2171700" cy="279400"/>
          </a:xfrm>
          <a:prstGeom prst="rect">
            <a:avLst/>
          </a:prstGeom>
          <a:noFill/>
          <a:ln/>
        </p:spPr>
        <p:txBody>
          <a:bodyPr wrap="square" lIns="0" tIns="0" rIns="0" bIns="0" rtlCol="0" anchor="t"/>
          <a:lstStyle/>
          <a:p>
            <a:pPr indent="0" marL="0">
              <a:buNone/>
            </a:pPr>
            <a:r>
              <a:rPr lang="en-US" sz="1500" b="1" dirty="0">
                <a:solidFill>
                  <a:srgbClr val="0AE448"/>
                </a:solidFill>
                <a:latin typeface="Calibri" pitchFamily="34" charset="0"/>
                <a:ea typeface="Calibri" pitchFamily="34" charset="-122"/>
                <a:cs typeface="Calibri" pitchFamily="34" charset="-120"/>
              </a:rPr>
              <a:t>Waste-hierarchy routing</a:t>
            </a:r>
            <a:endParaRPr lang="en-US" sz="1500" dirty="0"/>
          </a:p>
        </p:txBody>
      </p:sp>
      <p:sp>
        <p:nvSpPr>
          <p:cNvPr id="8" name="Text 4"/>
          <p:cNvSpPr txBox="1"/>
          <p:nvPr/>
        </p:nvSpPr>
        <p:spPr>
          <a:xfrm>
            <a:off x="990600" y="4889500"/>
            <a:ext cx="2171700" cy="444500"/>
          </a:xfrm>
          <a:prstGeom prst="rect">
            <a:avLst/>
          </a:prstGeom>
          <a:noFill/>
          <a:ln/>
        </p:spPr>
        <p:txBody>
          <a:bodyPr wrap="square" lIns="0" tIns="0" rIns="0" bIns="0" rtlCol="0" anchor="t"/>
          <a:lstStyle/>
          <a:p>
            <a:pPr indent="0" marL="0">
              <a:buNone/>
            </a:pPr>
            <a:r>
              <a:rPr lang="en-US" sz="1300" dirty="0">
                <a:solidFill>
                  <a:srgbClr val="E8E5D0"/>
                </a:solidFill>
                <a:latin typeface="Calibri" pitchFamily="34" charset="0"/>
                <a:ea typeface="Calibri" pitchFamily="34" charset="-122"/>
                <a:cs typeface="Calibri" pitchFamily="34" charset="-120"/>
              </a:rPr>
              <a:t>Decided per item, not per listing</a:t>
            </a:r>
            <a:endParaRPr lang="en-US" sz="1300" dirty="0"/>
          </a:p>
        </p:txBody>
      </p:sp>
      <p:sp>
        <p:nvSpPr>
          <p:cNvPr id="9" name="Shape 5"/>
          <p:cNvSpPr/>
          <p:nvPr/>
        </p:nvSpPr>
        <p:spPr>
          <a:xfrm>
            <a:off x="3492500" y="4381500"/>
            <a:ext cx="2527300" cy="1079500"/>
          </a:xfrm>
          <a:prstGeom prst="roundRect">
            <a:avLst>
              <a:gd name="adj" fmla="val 14118"/>
            </a:avLst>
          </a:prstGeom>
          <a:solidFill>
            <a:srgbClr val="14201A"/>
          </a:solidFill>
          <a:ln/>
        </p:spPr>
      </p:sp>
      <p:sp>
        <p:nvSpPr>
          <p:cNvPr id="10" name="Text 6"/>
          <p:cNvSpPr txBox="1"/>
          <p:nvPr/>
        </p:nvSpPr>
        <p:spPr>
          <a:xfrm>
            <a:off x="3670300" y="4546600"/>
            <a:ext cx="2171700" cy="279400"/>
          </a:xfrm>
          <a:prstGeom prst="rect">
            <a:avLst/>
          </a:prstGeom>
          <a:noFill/>
          <a:ln/>
        </p:spPr>
        <p:txBody>
          <a:bodyPr wrap="square" lIns="0" tIns="0" rIns="0" bIns="0" rtlCol="0" anchor="t"/>
          <a:lstStyle/>
          <a:p>
            <a:pPr indent="0" marL="0">
              <a:buNone/>
            </a:pPr>
            <a:r>
              <a:rPr lang="en-US" sz="1500" b="1" dirty="0">
                <a:solidFill>
                  <a:srgbClr val="00BAE2"/>
                </a:solidFill>
                <a:latin typeface="Calibri" pitchFamily="34" charset="0"/>
                <a:ea typeface="Calibri" pitchFamily="34" charset="-122"/>
                <a:cs typeface="Calibri" pitchFamily="34" charset="-120"/>
              </a:rPr>
              <a:t>Hyper-local</a:t>
            </a:r>
            <a:endParaRPr lang="en-US" sz="1500" dirty="0"/>
          </a:p>
        </p:txBody>
      </p:sp>
      <p:sp>
        <p:nvSpPr>
          <p:cNvPr id="11" name="Text 7"/>
          <p:cNvSpPr txBox="1"/>
          <p:nvPr/>
        </p:nvSpPr>
        <p:spPr>
          <a:xfrm>
            <a:off x="3670300" y="4889500"/>
            <a:ext cx="2171700" cy="444500"/>
          </a:xfrm>
          <a:prstGeom prst="rect">
            <a:avLst/>
          </a:prstGeom>
          <a:noFill/>
          <a:ln/>
        </p:spPr>
        <p:txBody>
          <a:bodyPr wrap="square" lIns="0" tIns="0" rIns="0" bIns="0" rtlCol="0" anchor="t"/>
          <a:lstStyle/>
          <a:p>
            <a:pPr indent="0" marL="0">
              <a:buNone/>
            </a:pPr>
            <a:r>
              <a:rPr lang="en-US" sz="1300" dirty="0">
                <a:solidFill>
                  <a:srgbClr val="E8E5D0"/>
                </a:solidFill>
                <a:latin typeface="Calibri" pitchFamily="34" charset="0"/>
                <a:ea typeface="Calibri" pitchFamily="34" charset="-122"/>
                <a:cs typeface="Calibri" pitchFamily="34" charset="-120"/>
              </a:rPr>
              <a:t>Matched within a few hundred metres</a:t>
            </a:r>
            <a:endParaRPr lang="en-US" sz="1300" dirty="0"/>
          </a:p>
        </p:txBody>
      </p:sp>
      <p:sp>
        <p:nvSpPr>
          <p:cNvPr id="12" name="Shape 8"/>
          <p:cNvSpPr/>
          <p:nvPr/>
        </p:nvSpPr>
        <p:spPr>
          <a:xfrm>
            <a:off x="6172200" y="4381500"/>
            <a:ext cx="2527300" cy="1079500"/>
          </a:xfrm>
          <a:prstGeom prst="roundRect">
            <a:avLst>
              <a:gd name="adj" fmla="val 14118"/>
            </a:avLst>
          </a:prstGeom>
          <a:solidFill>
            <a:srgbClr val="14201A"/>
          </a:solidFill>
          <a:ln/>
        </p:spPr>
      </p:sp>
      <p:sp>
        <p:nvSpPr>
          <p:cNvPr id="13" name="Text 9"/>
          <p:cNvSpPr txBox="1"/>
          <p:nvPr/>
        </p:nvSpPr>
        <p:spPr>
          <a:xfrm>
            <a:off x="6350000" y="4546600"/>
            <a:ext cx="2171700" cy="279400"/>
          </a:xfrm>
          <a:prstGeom prst="rect">
            <a:avLst/>
          </a:prstGeom>
          <a:noFill/>
          <a:ln/>
        </p:spPr>
        <p:txBody>
          <a:bodyPr wrap="square" lIns="0" tIns="0" rIns="0" bIns="0" rtlCol="0" anchor="t"/>
          <a:lstStyle/>
          <a:p>
            <a:pPr indent="0" marL="0">
              <a:buNone/>
            </a:pPr>
            <a:r>
              <a:rPr lang="en-US" sz="1500" b="1" dirty="0">
                <a:solidFill>
                  <a:srgbClr val="9D95FF"/>
                </a:solidFill>
                <a:latin typeface="Calibri" pitchFamily="34" charset="0"/>
                <a:ea typeface="Calibri" pitchFamily="34" charset="-122"/>
                <a:cs typeface="Calibri" pitchFamily="34" charset="-120"/>
              </a:rPr>
              <a:t>Handover planner</a:t>
            </a:r>
            <a:endParaRPr lang="en-US" sz="1500" dirty="0"/>
          </a:p>
        </p:txBody>
      </p:sp>
      <p:sp>
        <p:nvSpPr>
          <p:cNvPr id="14" name="Text 10"/>
          <p:cNvSpPr txBox="1"/>
          <p:nvPr/>
        </p:nvSpPr>
        <p:spPr>
          <a:xfrm>
            <a:off x="6350000" y="4889500"/>
            <a:ext cx="2171700" cy="444500"/>
          </a:xfrm>
          <a:prstGeom prst="rect">
            <a:avLst/>
          </a:prstGeom>
          <a:noFill/>
          <a:ln/>
        </p:spPr>
        <p:txBody>
          <a:bodyPr wrap="square" lIns="0" tIns="0" rIns="0" bIns="0" rtlCol="0" anchor="t"/>
          <a:lstStyle/>
          <a:p>
            <a:pPr indent="0" marL="0">
              <a:buNone/>
            </a:pPr>
            <a:r>
              <a:rPr lang="en-US" sz="1300" dirty="0">
                <a:solidFill>
                  <a:srgbClr val="E8E5D0"/>
                </a:solidFill>
                <a:latin typeface="Calibri" pitchFamily="34" charset="0"/>
                <a:ea typeface="Calibri" pitchFamily="34" charset="-122"/>
                <a:cs typeface="Calibri" pitchFamily="34" charset="-120"/>
              </a:rPr>
              <a:t>Forecasts waste for a whole precinct</a:t>
            </a:r>
            <a:endParaRPr lang="en-US" sz="1300" dirty="0"/>
          </a:p>
        </p:txBody>
      </p:sp>
      <p:sp>
        <p:nvSpPr>
          <p:cNvPr id="15" name="Shape 11"/>
          <p:cNvSpPr/>
          <p:nvPr/>
        </p:nvSpPr>
        <p:spPr>
          <a:xfrm>
            <a:off x="8851900" y="4381500"/>
            <a:ext cx="2527300" cy="1079500"/>
          </a:xfrm>
          <a:prstGeom prst="roundRect">
            <a:avLst>
              <a:gd name="adj" fmla="val 14118"/>
            </a:avLst>
          </a:prstGeom>
          <a:solidFill>
            <a:srgbClr val="14201A"/>
          </a:solidFill>
          <a:ln/>
        </p:spPr>
      </p:sp>
      <p:sp>
        <p:nvSpPr>
          <p:cNvPr id="16" name="Text 12"/>
          <p:cNvSpPr txBox="1"/>
          <p:nvPr/>
        </p:nvSpPr>
        <p:spPr>
          <a:xfrm>
            <a:off x="9029700" y="4546600"/>
            <a:ext cx="2171700" cy="279400"/>
          </a:xfrm>
          <a:prstGeom prst="rect">
            <a:avLst/>
          </a:prstGeom>
          <a:noFill/>
          <a:ln/>
        </p:spPr>
        <p:txBody>
          <a:bodyPr wrap="square" lIns="0" tIns="0" rIns="0" bIns="0" rtlCol="0" anchor="t"/>
          <a:lstStyle/>
          <a:p>
            <a:pPr indent="0" marL="0">
              <a:buNone/>
            </a:pPr>
            <a:r>
              <a:rPr lang="en-US" sz="1500" b="1" dirty="0">
                <a:solidFill>
                  <a:srgbClr val="FF8709"/>
                </a:solidFill>
                <a:latin typeface="Calibri" pitchFamily="34" charset="0"/>
                <a:ea typeface="Calibri" pitchFamily="34" charset="-122"/>
                <a:cs typeface="Calibri" pitchFamily="34" charset="-120"/>
              </a:rPr>
              <a:t>Auditable ledger</a:t>
            </a:r>
            <a:endParaRPr lang="en-US" sz="1500" dirty="0"/>
          </a:p>
        </p:txBody>
      </p:sp>
      <p:sp>
        <p:nvSpPr>
          <p:cNvPr id="17" name="Text 13"/>
          <p:cNvSpPr txBox="1"/>
          <p:nvPr/>
        </p:nvSpPr>
        <p:spPr>
          <a:xfrm>
            <a:off x="9029700" y="4889500"/>
            <a:ext cx="2171700" cy="444500"/>
          </a:xfrm>
          <a:prstGeom prst="rect">
            <a:avLst/>
          </a:prstGeom>
          <a:noFill/>
          <a:ln/>
        </p:spPr>
        <p:txBody>
          <a:bodyPr wrap="square" lIns="0" tIns="0" rIns="0" bIns="0" rtlCol="0" anchor="t"/>
          <a:lstStyle/>
          <a:p>
            <a:pPr indent="0" marL="0">
              <a:buNone/>
            </a:pPr>
            <a:r>
              <a:rPr lang="en-US" sz="1300" dirty="0">
                <a:solidFill>
                  <a:srgbClr val="E8E5D0"/>
                </a:solidFill>
                <a:latin typeface="Calibri" pitchFamily="34" charset="0"/>
                <a:ea typeface="Calibri" pitchFamily="34" charset="-122"/>
                <a:cs typeface="Calibri" pitchFamily="34" charset="-120"/>
              </a:rPr>
              <a:t>Only confirmed hand-offs count</a:t>
            </a:r>
            <a:endParaRPr lang="en-US" sz="1300" dirty="0"/>
          </a:p>
        </p:txBody>
      </p:sp>
      <p:sp>
        <p:nvSpPr>
          <p:cNvPr id="18" name="Text 14"/>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6A6F5E"/>
                </a:solidFill>
                <a:latin typeface="Calibri" pitchFamily="34" charset="0"/>
                <a:ea typeface="Calibri" pitchFamily="34" charset="-122"/>
                <a:cs typeface="Calibri" pitchFamily="34" charset="-120"/>
              </a:rPr>
              <a:t>CircularFit · Planet track</a:t>
            </a:r>
            <a:endParaRPr lang="en-US" sz="1200" dirty="0"/>
          </a:p>
        </p:txBody>
      </p:sp>
      <p:sp>
        <p:nvSpPr>
          <p:cNvPr id="19" name="Text 15"/>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6A6F5E"/>
                </a:solidFill>
                <a:latin typeface="Calibri" pitchFamily="34" charset="0"/>
                <a:ea typeface="Calibri" pitchFamily="34" charset="-122"/>
                <a:cs typeface="Calibri"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E448"/>
                </a:solidFill>
                <a:latin typeface="Calibri" pitchFamily="34" charset="0"/>
                <a:ea typeface="Calibri" pitchFamily="34" charset="-122"/>
                <a:cs typeface="Calibri" pitchFamily="34" charset="-120"/>
              </a:rPr>
              <a:t>5 · HOW IT WORKS</a:t>
            </a:r>
            <a:endParaRPr lang="en-US" sz="1400" dirty="0"/>
          </a:p>
        </p:txBody>
      </p:sp>
      <p:sp>
        <p:nvSpPr>
          <p:cNvPr id="4" name="Text 1"/>
          <p:cNvSpPr txBox="1"/>
          <p:nvPr/>
        </p:nvSpPr>
        <p:spPr>
          <a:xfrm>
            <a:off x="812800" y="1168400"/>
            <a:ext cx="10566400" cy="635000"/>
          </a:xfrm>
          <a:prstGeom prst="rect">
            <a:avLst/>
          </a:prstGeom>
          <a:noFill/>
          <a:ln/>
        </p:spPr>
        <p:txBody>
          <a:bodyPr wrap="square" lIns="0" tIns="0" rIns="0" bIns="0" rtlCol="0" anchor="t"/>
          <a:lstStyle/>
          <a:p>
            <a:pPr indent="0" marL="0">
              <a:lnSpc>
                <a:spcPct val="95000"/>
              </a:lnSpc>
              <a:buNone/>
            </a:pPr>
            <a:r>
              <a:rPr lang="en-US" sz="4000" b="1" dirty="0">
                <a:solidFill>
                  <a:srgbClr val="FFFCE1"/>
                </a:solidFill>
                <a:latin typeface="Calibri" pitchFamily="34" charset="0"/>
                <a:ea typeface="Calibri" pitchFamily="34" charset="-122"/>
                <a:cs typeface="Calibri" pitchFamily="34" charset="-120"/>
              </a:rPr>
              <a:t>Six steps from strip-out to ledger</a:t>
            </a:r>
            <a:endParaRPr lang="en-US" sz="4000" dirty="0"/>
          </a:p>
        </p:txBody>
      </p:sp>
      <p:sp>
        <p:nvSpPr>
          <p:cNvPr id="5" name="Shape 2"/>
          <p:cNvSpPr/>
          <p:nvPr/>
        </p:nvSpPr>
        <p:spPr>
          <a:xfrm>
            <a:off x="812800" y="1968500"/>
            <a:ext cx="3420554" cy="1016000"/>
          </a:xfrm>
          <a:prstGeom prst="roundRect">
            <a:avLst>
              <a:gd name="adj" fmla="val 15000"/>
            </a:avLst>
          </a:prstGeom>
          <a:solidFill>
            <a:srgbClr val="1A1D1B"/>
          </a:solidFill>
          <a:ln w="9525">
            <a:solidFill>
              <a:srgbClr val="2F3330"/>
            </a:solidFill>
            <a:prstDash val="solid"/>
          </a:ln>
        </p:spPr>
      </p:sp>
      <p:sp>
        <p:nvSpPr>
          <p:cNvPr id="6" name="Shape 3"/>
          <p:cNvSpPr/>
          <p:nvPr/>
        </p:nvSpPr>
        <p:spPr>
          <a:xfrm>
            <a:off x="990600" y="2273300"/>
            <a:ext cx="406400" cy="406400"/>
          </a:xfrm>
          <a:prstGeom prst="ellipse">
            <a:avLst/>
          </a:prstGeom>
          <a:solidFill>
            <a:srgbClr val="0AE448"/>
          </a:solidFill>
          <a:ln/>
        </p:spPr>
      </p:sp>
      <p:sp>
        <p:nvSpPr>
          <p:cNvPr id="7" name="Text 4"/>
          <p:cNvSpPr txBox="1"/>
          <p:nvPr/>
        </p:nvSpPr>
        <p:spPr>
          <a:xfrm>
            <a:off x="990600" y="2273300"/>
            <a:ext cx="406400" cy="406400"/>
          </a:xfrm>
          <a:prstGeom prst="rect">
            <a:avLst/>
          </a:prstGeom>
          <a:noFill/>
          <a:ln/>
        </p:spPr>
        <p:txBody>
          <a:bodyPr wrap="square" lIns="0" tIns="0" rIns="0" bIns="0" rtlCol="0" anchor="ctr"/>
          <a:lstStyle/>
          <a:p>
            <a:pPr algn="ctr" indent="0" marL="0">
              <a:buNone/>
            </a:pPr>
            <a:r>
              <a:rPr lang="en-US" sz="1500" b="1" dirty="0">
                <a:solidFill>
                  <a:srgbClr val="0E100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524000" y="2133600"/>
            <a:ext cx="2540000" cy="3048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Log</a:t>
            </a:r>
            <a:endParaRPr lang="en-US" sz="1800" dirty="0"/>
          </a:p>
        </p:txBody>
      </p:sp>
      <p:sp>
        <p:nvSpPr>
          <p:cNvPr id="9" name="Text 6"/>
          <p:cNvSpPr txBox="1"/>
          <p:nvPr/>
        </p:nvSpPr>
        <p:spPr>
          <a:xfrm>
            <a:off x="1524000" y="2451100"/>
            <a:ext cx="2540000" cy="419100"/>
          </a:xfrm>
          <a:prstGeom prst="rect">
            <a:avLst/>
          </a:prstGeom>
          <a:noFill/>
          <a:ln/>
        </p:spPr>
        <p:txBody>
          <a:bodyPr wrap="square" lIns="0" tIns="0" rIns="0" bIns="0" rtlCol="0" anchor="t"/>
          <a:lstStyle/>
          <a:p>
            <a:pPr indent="0" marL="0">
              <a:buNone/>
            </a:pPr>
            <a:r>
              <a:rPr lang="en-US" sz="1300" dirty="0">
                <a:solidFill>
                  <a:srgbClr val="BBBAA6"/>
                </a:solidFill>
                <a:latin typeface="Calibri" pitchFamily="34" charset="0"/>
                <a:ea typeface="Calibri" pitchFamily="34" charset="-122"/>
                <a:cs typeface="Calibri" pitchFamily="34" charset="-120"/>
              </a:rPr>
              <a:t>Material, quantity, condition</a:t>
            </a:r>
            <a:endParaRPr lang="en-US" sz="1300" dirty="0"/>
          </a:p>
        </p:txBody>
      </p:sp>
      <p:sp>
        <p:nvSpPr>
          <p:cNvPr id="10" name="Shape 7"/>
          <p:cNvSpPr/>
          <p:nvPr/>
        </p:nvSpPr>
        <p:spPr>
          <a:xfrm>
            <a:off x="4385755" y="1968500"/>
            <a:ext cx="3420554" cy="1016000"/>
          </a:xfrm>
          <a:prstGeom prst="roundRect">
            <a:avLst>
              <a:gd name="adj" fmla="val 15000"/>
            </a:avLst>
          </a:prstGeom>
          <a:solidFill>
            <a:srgbClr val="1A1D1B"/>
          </a:solidFill>
          <a:ln w="9525">
            <a:solidFill>
              <a:srgbClr val="2F3330"/>
            </a:solidFill>
            <a:prstDash val="solid"/>
          </a:ln>
        </p:spPr>
      </p:sp>
      <p:sp>
        <p:nvSpPr>
          <p:cNvPr id="11" name="Shape 8"/>
          <p:cNvSpPr/>
          <p:nvPr/>
        </p:nvSpPr>
        <p:spPr>
          <a:xfrm>
            <a:off x="4563555" y="2273300"/>
            <a:ext cx="406400" cy="406400"/>
          </a:xfrm>
          <a:prstGeom prst="ellipse">
            <a:avLst/>
          </a:prstGeom>
          <a:solidFill>
            <a:srgbClr val="0AE448"/>
          </a:solidFill>
          <a:ln/>
        </p:spPr>
      </p:sp>
      <p:sp>
        <p:nvSpPr>
          <p:cNvPr id="12" name="Text 9"/>
          <p:cNvSpPr txBox="1"/>
          <p:nvPr/>
        </p:nvSpPr>
        <p:spPr>
          <a:xfrm>
            <a:off x="4563555" y="2273300"/>
            <a:ext cx="406400" cy="406400"/>
          </a:xfrm>
          <a:prstGeom prst="rect">
            <a:avLst/>
          </a:prstGeom>
          <a:noFill/>
          <a:ln/>
        </p:spPr>
        <p:txBody>
          <a:bodyPr wrap="square" lIns="0" tIns="0" rIns="0" bIns="0" rtlCol="0" anchor="ctr"/>
          <a:lstStyle/>
          <a:p>
            <a:pPr algn="ctr" indent="0" marL="0">
              <a:buNone/>
            </a:pPr>
            <a:r>
              <a:rPr lang="en-US" sz="1500" b="1" dirty="0">
                <a:solidFill>
                  <a:srgbClr val="0E100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5096955" y="2133600"/>
            <a:ext cx="2540000" cy="3048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Estimate</a:t>
            </a:r>
            <a:endParaRPr lang="en-US" sz="1800" dirty="0"/>
          </a:p>
        </p:txBody>
      </p:sp>
      <p:sp>
        <p:nvSpPr>
          <p:cNvPr id="14" name="Text 11"/>
          <p:cNvSpPr txBox="1"/>
          <p:nvPr/>
        </p:nvSpPr>
        <p:spPr>
          <a:xfrm>
            <a:off x="5096955" y="2451100"/>
            <a:ext cx="2540000" cy="419100"/>
          </a:xfrm>
          <a:prstGeom prst="rect">
            <a:avLst/>
          </a:prstGeom>
          <a:noFill/>
          <a:ln/>
        </p:spPr>
        <p:txBody>
          <a:bodyPr wrap="square" lIns="0" tIns="0" rIns="0" bIns="0" rtlCol="0" anchor="t"/>
          <a:lstStyle/>
          <a:p>
            <a:pPr indent="0" marL="0">
              <a:buNone/>
            </a:pPr>
            <a:r>
              <a:rPr lang="en-US" sz="1300" dirty="0">
                <a:solidFill>
                  <a:srgbClr val="BBBAA6"/>
                </a:solidFill>
                <a:latin typeface="Calibri" pitchFamily="34" charset="0"/>
                <a:ea typeface="Calibri" pitchFamily="34" charset="-122"/>
                <a:cs typeface="Calibri" pitchFamily="34" charset="-120"/>
              </a:rPr>
              <a:t>Weight and carbon from a catalogue</a:t>
            </a:r>
            <a:endParaRPr lang="en-US" sz="1300" dirty="0"/>
          </a:p>
        </p:txBody>
      </p:sp>
      <p:sp>
        <p:nvSpPr>
          <p:cNvPr id="15" name="Shape 12"/>
          <p:cNvSpPr/>
          <p:nvPr/>
        </p:nvSpPr>
        <p:spPr>
          <a:xfrm>
            <a:off x="7958709" y="1968500"/>
            <a:ext cx="3420554" cy="1016000"/>
          </a:xfrm>
          <a:prstGeom prst="roundRect">
            <a:avLst>
              <a:gd name="adj" fmla="val 15000"/>
            </a:avLst>
          </a:prstGeom>
          <a:solidFill>
            <a:srgbClr val="1A1D1B"/>
          </a:solidFill>
          <a:ln w="9525">
            <a:solidFill>
              <a:srgbClr val="2F3330"/>
            </a:solidFill>
            <a:prstDash val="solid"/>
          </a:ln>
        </p:spPr>
      </p:sp>
      <p:sp>
        <p:nvSpPr>
          <p:cNvPr id="16" name="Shape 13"/>
          <p:cNvSpPr/>
          <p:nvPr/>
        </p:nvSpPr>
        <p:spPr>
          <a:xfrm>
            <a:off x="8136509" y="2273300"/>
            <a:ext cx="406400" cy="406400"/>
          </a:xfrm>
          <a:prstGeom prst="ellipse">
            <a:avLst/>
          </a:prstGeom>
          <a:solidFill>
            <a:srgbClr val="0AE448"/>
          </a:solidFill>
          <a:ln/>
        </p:spPr>
      </p:sp>
      <p:sp>
        <p:nvSpPr>
          <p:cNvPr id="17" name="Text 14"/>
          <p:cNvSpPr txBox="1"/>
          <p:nvPr/>
        </p:nvSpPr>
        <p:spPr>
          <a:xfrm>
            <a:off x="8136509" y="2273300"/>
            <a:ext cx="406400" cy="406400"/>
          </a:xfrm>
          <a:prstGeom prst="rect">
            <a:avLst/>
          </a:prstGeom>
          <a:noFill/>
          <a:ln/>
        </p:spPr>
        <p:txBody>
          <a:bodyPr wrap="square" lIns="0" tIns="0" rIns="0" bIns="0" rtlCol="0" anchor="ctr"/>
          <a:lstStyle/>
          <a:p>
            <a:pPr algn="ctr" indent="0" marL="0">
              <a:buNone/>
            </a:pPr>
            <a:r>
              <a:rPr lang="en-US" sz="1500" b="1" dirty="0">
                <a:solidFill>
                  <a:srgbClr val="0E100F"/>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8669909" y="2133600"/>
            <a:ext cx="2540000" cy="3048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Route</a:t>
            </a:r>
            <a:endParaRPr lang="en-US" sz="1800" dirty="0"/>
          </a:p>
        </p:txBody>
      </p:sp>
      <p:sp>
        <p:nvSpPr>
          <p:cNvPr id="19" name="Text 16"/>
          <p:cNvSpPr txBox="1"/>
          <p:nvPr/>
        </p:nvSpPr>
        <p:spPr>
          <a:xfrm>
            <a:off x="8669909" y="2451100"/>
            <a:ext cx="2540000" cy="419100"/>
          </a:xfrm>
          <a:prstGeom prst="rect">
            <a:avLst/>
          </a:prstGeom>
          <a:noFill/>
          <a:ln/>
        </p:spPr>
        <p:txBody>
          <a:bodyPr wrap="square" lIns="0" tIns="0" rIns="0" bIns="0" rtlCol="0" anchor="t"/>
          <a:lstStyle/>
          <a:p>
            <a:pPr indent="0" marL="0">
              <a:buNone/>
            </a:pPr>
            <a:r>
              <a:rPr lang="en-US" sz="1300" dirty="0">
                <a:solidFill>
                  <a:srgbClr val="BBBAA6"/>
                </a:solidFill>
                <a:latin typeface="Calibri" pitchFamily="34" charset="0"/>
                <a:ea typeface="Calibri" pitchFamily="34" charset="-122"/>
                <a:cs typeface="Calibri" pitchFamily="34" charset="-120"/>
              </a:rPr>
              <a:t>The first route that applies wins</a:t>
            </a:r>
            <a:endParaRPr lang="en-US" sz="1300" dirty="0"/>
          </a:p>
        </p:txBody>
      </p:sp>
      <p:sp>
        <p:nvSpPr>
          <p:cNvPr id="20" name="Shape 17"/>
          <p:cNvSpPr/>
          <p:nvPr/>
        </p:nvSpPr>
        <p:spPr>
          <a:xfrm>
            <a:off x="812800" y="3136900"/>
            <a:ext cx="3420554" cy="1016000"/>
          </a:xfrm>
          <a:prstGeom prst="roundRect">
            <a:avLst>
              <a:gd name="adj" fmla="val 15000"/>
            </a:avLst>
          </a:prstGeom>
          <a:solidFill>
            <a:srgbClr val="1A1D1B"/>
          </a:solidFill>
          <a:ln w="9525">
            <a:solidFill>
              <a:srgbClr val="2F3330"/>
            </a:solidFill>
            <a:prstDash val="solid"/>
          </a:ln>
        </p:spPr>
      </p:sp>
      <p:sp>
        <p:nvSpPr>
          <p:cNvPr id="21" name="Shape 18"/>
          <p:cNvSpPr/>
          <p:nvPr/>
        </p:nvSpPr>
        <p:spPr>
          <a:xfrm>
            <a:off x="990600" y="3441700"/>
            <a:ext cx="406400" cy="406400"/>
          </a:xfrm>
          <a:prstGeom prst="ellipse">
            <a:avLst/>
          </a:prstGeom>
          <a:solidFill>
            <a:srgbClr val="00BAE2"/>
          </a:solidFill>
          <a:ln/>
        </p:spPr>
      </p:sp>
      <p:sp>
        <p:nvSpPr>
          <p:cNvPr id="22" name="Text 19"/>
          <p:cNvSpPr txBox="1"/>
          <p:nvPr/>
        </p:nvSpPr>
        <p:spPr>
          <a:xfrm>
            <a:off x="990600" y="3441700"/>
            <a:ext cx="406400" cy="406400"/>
          </a:xfrm>
          <a:prstGeom prst="rect">
            <a:avLst/>
          </a:prstGeom>
          <a:noFill/>
          <a:ln/>
        </p:spPr>
        <p:txBody>
          <a:bodyPr wrap="square" lIns="0" tIns="0" rIns="0" bIns="0" rtlCol="0" anchor="ctr"/>
          <a:lstStyle/>
          <a:p>
            <a:pPr algn="ctr" indent="0" marL="0">
              <a:buNone/>
            </a:pPr>
            <a:r>
              <a:rPr lang="en-US" sz="1500" b="1" dirty="0">
                <a:solidFill>
                  <a:srgbClr val="0E100F"/>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1524000" y="3302000"/>
            <a:ext cx="2540000" cy="3048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Agree</a:t>
            </a:r>
            <a:endParaRPr lang="en-US" sz="1800" dirty="0"/>
          </a:p>
        </p:txBody>
      </p:sp>
      <p:sp>
        <p:nvSpPr>
          <p:cNvPr id="24" name="Text 21"/>
          <p:cNvSpPr txBox="1"/>
          <p:nvPr/>
        </p:nvSpPr>
        <p:spPr>
          <a:xfrm>
            <a:off x="1524000" y="3619500"/>
            <a:ext cx="2540000" cy="419100"/>
          </a:xfrm>
          <a:prstGeom prst="rect">
            <a:avLst/>
          </a:prstGeom>
          <a:noFill/>
          <a:ln/>
        </p:spPr>
        <p:txBody>
          <a:bodyPr wrap="square" lIns="0" tIns="0" rIns="0" bIns="0" rtlCol="0" anchor="t"/>
          <a:lstStyle/>
          <a:p>
            <a:pPr indent="0" marL="0">
              <a:buNone/>
            </a:pPr>
            <a:r>
              <a:rPr lang="en-US" sz="1300" dirty="0">
                <a:solidFill>
                  <a:srgbClr val="BBBAA6"/>
                </a:solidFill>
                <a:latin typeface="Calibri" pitchFamily="34" charset="0"/>
                <a:ea typeface="Calibri" pitchFamily="34" charset="-122"/>
                <a:cs typeface="Calibri" pitchFamily="34" charset="-120"/>
              </a:rPr>
              <a:t>Donor and requester say yes or no</a:t>
            </a:r>
            <a:endParaRPr lang="en-US" sz="1300" dirty="0"/>
          </a:p>
        </p:txBody>
      </p:sp>
      <p:sp>
        <p:nvSpPr>
          <p:cNvPr id="25" name="Shape 22"/>
          <p:cNvSpPr/>
          <p:nvPr/>
        </p:nvSpPr>
        <p:spPr>
          <a:xfrm>
            <a:off x="4385755" y="3136900"/>
            <a:ext cx="3420554" cy="1016000"/>
          </a:xfrm>
          <a:prstGeom prst="roundRect">
            <a:avLst>
              <a:gd name="adj" fmla="val 15000"/>
            </a:avLst>
          </a:prstGeom>
          <a:solidFill>
            <a:srgbClr val="1A1D1B"/>
          </a:solidFill>
          <a:ln w="9525">
            <a:solidFill>
              <a:srgbClr val="2F3330"/>
            </a:solidFill>
            <a:prstDash val="solid"/>
          </a:ln>
        </p:spPr>
      </p:sp>
      <p:sp>
        <p:nvSpPr>
          <p:cNvPr id="26" name="Shape 23"/>
          <p:cNvSpPr/>
          <p:nvPr/>
        </p:nvSpPr>
        <p:spPr>
          <a:xfrm>
            <a:off x="4563555" y="3441700"/>
            <a:ext cx="406400" cy="406400"/>
          </a:xfrm>
          <a:prstGeom prst="ellipse">
            <a:avLst/>
          </a:prstGeom>
          <a:solidFill>
            <a:srgbClr val="00BAE2"/>
          </a:solidFill>
          <a:ln/>
        </p:spPr>
      </p:sp>
      <p:sp>
        <p:nvSpPr>
          <p:cNvPr id="27" name="Text 24"/>
          <p:cNvSpPr txBox="1"/>
          <p:nvPr/>
        </p:nvSpPr>
        <p:spPr>
          <a:xfrm>
            <a:off x="4563555" y="3441700"/>
            <a:ext cx="406400" cy="406400"/>
          </a:xfrm>
          <a:prstGeom prst="rect">
            <a:avLst/>
          </a:prstGeom>
          <a:noFill/>
          <a:ln/>
        </p:spPr>
        <p:txBody>
          <a:bodyPr wrap="square" lIns="0" tIns="0" rIns="0" bIns="0" rtlCol="0" anchor="ctr"/>
          <a:lstStyle/>
          <a:p>
            <a:pPr algn="ctr" indent="0" marL="0">
              <a:buNone/>
            </a:pPr>
            <a:r>
              <a:rPr lang="en-US" sz="1500" b="1" dirty="0">
                <a:solidFill>
                  <a:srgbClr val="0E100F"/>
                </a:solidFill>
                <a:latin typeface="Calibri" pitchFamily="34" charset="0"/>
                <a:ea typeface="Calibri" pitchFamily="34" charset="-122"/>
                <a:cs typeface="Calibri" pitchFamily="34" charset="-120"/>
              </a:rPr>
              <a:t>5</a:t>
            </a:r>
            <a:endParaRPr lang="en-US" sz="1500" dirty="0"/>
          </a:p>
        </p:txBody>
      </p:sp>
      <p:sp>
        <p:nvSpPr>
          <p:cNvPr id="28" name="Text 25"/>
          <p:cNvSpPr txBox="1"/>
          <p:nvPr/>
        </p:nvSpPr>
        <p:spPr>
          <a:xfrm>
            <a:off x="5096955" y="3302000"/>
            <a:ext cx="2540000" cy="3048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Confirm</a:t>
            </a:r>
            <a:endParaRPr lang="en-US" sz="1800" dirty="0"/>
          </a:p>
        </p:txBody>
      </p:sp>
      <p:sp>
        <p:nvSpPr>
          <p:cNvPr id="29" name="Text 26"/>
          <p:cNvSpPr txBox="1"/>
          <p:nvPr/>
        </p:nvSpPr>
        <p:spPr>
          <a:xfrm>
            <a:off x="5096955" y="3619500"/>
            <a:ext cx="2540000" cy="419100"/>
          </a:xfrm>
          <a:prstGeom prst="rect">
            <a:avLst/>
          </a:prstGeom>
          <a:noFill/>
          <a:ln/>
        </p:spPr>
        <p:txBody>
          <a:bodyPr wrap="square" lIns="0" tIns="0" rIns="0" bIns="0" rtlCol="0" anchor="t"/>
          <a:lstStyle/>
          <a:p>
            <a:pPr indent="0" marL="0">
              <a:buNone/>
            </a:pPr>
            <a:r>
              <a:rPr lang="en-US" sz="1300" dirty="0">
                <a:solidFill>
                  <a:srgbClr val="BBBAA6"/>
                </a:solidFill>
                <a:latin typeface="Calibri" pitchFamily="34" charset="0"/>
                <a:ea typeface="Calibri" pitchFamily="34" charset="-122"/>
                <a:cs typeface="Calibri" pitchFamily="34" charset="-120"/>
              </a:rPr>
              <a:t>Admin confirms after both agree</a:t>
            </a:r>
            <a:endParaRPr lang="en-US" sz="1300" dirty="0"/>
          </a:p>
        </p:txBody>
      </p:sp>
      <p:sp>
        <p:nvSpPr>
          <p:cNvPr id="30" name="Shape 27"/>
          <p:cNvSpPr/>
          <p:nvPr/>
        </p:nvSpPr>
        <p:spPr>
          <a:xfrm>
            <a:off x="7958709" y="3136900"/>
            <a:ext cx="3420554" cy="1016000"/>
          </a:xfrm>
          <a:prstGeom prst="roundRect">
            <a:avLst>
              <a:gd name="adj" fmla="val 15000"/>
            </a:avLst>
          </a:prstGeom>
          <a:solidFill>
            <a:srgbClr val="1A1D1B"/>
          </a:solidFill>
          <a:ln w="9525">
            <a:solidFill>
              <a:srgbClr val="2F3330"/>
            </a:solidFill>
            <a:prstDash val="solid"/>
          </a:ln>
        </p:spPr>
      </p:sp>
      <p:sp>
        <p:nvSpPr>
          <p:cNvPr id="31" name="Shape 28"/>
          <p:cNvSpPr/>
          <p:nvPr/>
        </p:nvSpPr>
        <p:spPr>
          <a:xfrm>
            <a:off x="8136509" y="3441700"/>
            <a:ext cx="406400" cy="406400"/>
          </a:xfrm>
          <a:prstGeom prst="ellipse">
            <a:avLst/>
          </a:prstGeom>
          <a:solidFill>
            <a:srgbClr val="9D95FF"/>
          </a:solidFill>
          <a:ln/>
        </p:spPr>
      </p:sp>
      <p:sp>
        <p:nvSpPr>
          <p:cNvPr id="32" name="Text 29"/>
          <p:cNvSpPr txBox="1"/>
          <p:nvPr/>
        </p:nvSpPr>
        <p:spPr>
          <a:xfrm>
            <a:off x="8136509" y="3441700"/>
            <a:ext cx="406400" cy="406400"/>
          </a:xfrm>
          <a:prstGeom prst="rect">
            <a:avLst/>
          </a:prstGeom>
          <a:noFill/>
          <a:ln/>
        </p:spPr>
        <p:txBody>
          <a:bodyPr wrap="square" lIns="0" tIns="0" rIns="0" bIns="0" rtlCol="0" anchor="ctr"/>
          <a:lstStyle/>
          <a:p>
            <a:pPr algn="ctr" indent="0" marL="0">
              <a:buNone/>
            </a:pPr>
            <a:r>
              <a:rPr lang="en-US" sz="1500" b="1" dirty="0">
                <a:solidFill>
                  <a:srgbClr val="0E100F"/>
                </a:solidFill>
                <a:latin typeface="Calibri" pitchFamily="34" charset="0"/>
                <a:ea typeface="Calibri" pitchFamily="34" charset="-122"/>
                <a:cs typeface="Calibri" pitchFamily="34" charset="-120"/>
              </a:rPr>
              <a:t>6</a:t>
            </a:r>
            <a:endParaRPr lang="en-US" sz="1500" dirty="0"/>
          </a:p>
        </p:txBody>
      </p:sp>
      <p:sp>
        <p:nvSpPr>
          <p:cNvPr id="33" name="Text 30"/>
          <p:cNvSpPr txBox="1"/>
          <p:nvPr/>
        </p:nvSpPr>
        <p:spPr>
          <a:xfrm>
            <a:off x="8669909" y="3302000"/>
            <a:ext cx="2540000" cy="3048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Report</a:t>
            </a:r>
            <a:endParaRPr lang="en-US" sz="1800" dirty="0"/>
          </a:p>
        </p:txBody>
      </p:sp>
      <p:sp>
        <p:nvSpPr>
          <p:cNvPr id="34" name="Text 31"/>
          <p:cNvSpPr txBox="1"/>
          <p:nvPr/>
        </p:nvSpPr>
        <p:spPr>
          <a:xfrm>
            <a:off x="8669909" y="3619500"/>
            <a:ext cx="2540000" cy="419100"/>
          </a:xfrm>
          <a:prstGeom prst="rect">
            <a:avLst/>
          </a:prstGeom>
          <a:noFill/>
          <a:ln/>
        </p:spPr>
        <p:txBody>
          <a:bodyPr wrap="square" lIns="0" tIns="0" rIns="0" bIns="0" rtlCol="0" anchor="t"/>
          <a:lstStyle/>
          <a:p>
            <a:pPr indent="0" marL="0">
              <a:buNone/>
            </a:pPr>
            <a:r>
              <a:rPr lang="en-US" sz="1300" dirty="0">
                <a:solidFill>
                  <a:srgbClr val="BBBAA6"/>
                </a:solidFill>
                <a:latin typeface="Calibri" pitchFamily="34" charset="0"/>
                <a:ea typeface="Calibri" pitchFamily="34" charset="-122"/>
                <a:cs typeface="Calibri" pitchFamily="34" charset="-120"/>
              </a:rPr>
              <a:t>Ledger, dashboard and points</a:t>
            </a:r>
            <a:endParaRPr lang="en-US" sz="1300" dirty="0"/>
          </a:p>
        </p:txBody>
      </p:sp>
      <p:sp>
        <p:nvSpPr>
          <p:cNvPr id="35" name="Shape 32"/>
          <p:cNvSpPr/>
          <p:nvPr/>
        </p:nvSpPr>
        <p:spPr>
          <a:xfrm>
            <a:off x="812800" y="4381500"/>
            <a:ext cx="2527300" cy="762000"/>
          </a:xfrm>
          <a:prstGeom prst="roundRect">
            <a:avLst>
              <a:gd name="adj" fmla="val 16667"/>
            </a:avLst>
          </a:prstGeom>
          <a:solidFill>
            <a:srgbClr val="1A1D1B"/>
          </a:solidFill>
          <a:ln/>
        </p:spPr>
      </p:sp>
      <p:sp>
        <p:nvSpPr>
          <p:cNvPr id="36" name="Shape 33"/>
          <p:cNvSpPr/>
          <p:nvPr/>
        </p:nvSpPr>
        <p:spPr>
          <a:xfrm>
            <a:off x="901700" y="4381500"/>
            <a:ext cx="2349500" cy="38100"/>
          </a:xfrm>
          <a:prstGeom prst="rect">
            <a:avLst/>
          </a:prstGeom>
          <a:solidFill>
            <a:srgbClr val="0AE448"/>
          </a:solidFill>
          <a:ln/>
        </p:spPr>
      </p:sp>
      <p:sp>
        <p:nvSpPr>
          <p:cNvPr id="37" name="Text 34"/>
          <p:cNvSpPr txBox="1"/>
          <p:nvPr/>
        </p:nvSpPr>
        <p:spPr>
          <a:xfrm>
            <a:off x="965200" y="4546600"/>
            <a:ext cx="2222500" cy="254000"/>
          </a:xfrm>
          <a:prstGeom prst="rect">
            <a:avLst/>
          </a:prstGeom>
          <a:noFill/>
          <a:ln/>
        </p:spPr>
        <p:txBody>
          <a:bodyPr wrap="square" lIns="0" tIns="0" rIns="0" bIns="0" rtlCol="0" anchor="t"/>
          <a:lstStyle/>
          <a:p>
            <a:pPr indent="0" marL="0">
              <a:buNone/>
            </a:pPr>
            <a:r>
              <a:rPr lang="en-US" sz="1500" b="1" dirty="0">
                <a:solidFill>
                  <a:srgbClr val="0AE448"/>
                </a:solidFill>
                <a:latin typeface="Calibri" pitchFamily="34" charset="0"/>
                <a:ea typeface="Calibri" pitchFamily="34" charset="-122"/>
                <a:cs typeface="Calibri" pitchFamily="34" charset="-120"/>
              </a:rPr>
              <a:t>Reuse</a:t>
            </a:r>
            <a:endParaRPr lang="en-US" sz="1500" dirty="0"/>
          </a:p>
        </p:txBody>
      </p:sp>
      <p:sp>
        <p:nvSpPr>
          <p:cNvPr id="38" name="Text 35"/>
          <p:cNvSpPr txBox="1"/>
          <p:nvPr/>
        </p:nvSpPr>
        <p:spPr>
          <a:xfrm>
            <a:off x="965200" y="4826000"/>
            <a:ext cx="2222500" cy="254000"/>
          </a:xfrm>
          <a:prstGeom prst="rect">
            <a:avLst/>
          </a:prstGeom>
          <a:noFill/>
          <a:ln/>
        </p:spPr>
        <p:txBody>
          <a:bodyPr wrap="square" lIns="0" tIns="0" rIns="0" bIns="0" rtlCol="0" anchor="t"/>
          <a:lstStyle/>
          <a:p>
            <a:pPr indent="0" marL="0">
              <a:buNone/>
            </a:pPr>
            <a:r>
              <a:rPr lang="en-US" sz="1200" dirty="0">
                <a:solidFill>
                  <a:srgbClr val="BBBAA6"/>
                </a:solidFill>
                <a:latin typeface="Calibri" pitchFamily="34" charset="0"/>
                <a:ea typeface="Calibri" pitchFamily="34" charset="-122"/>
                <a:cs typeface="Calibri" pitchFamily="34" charset="-120"/>
              </a:rPr>
              <a:t>A neighbour asked for it</a:t>
            </a:r>
            <a:endParaRPr lang="en-US" sz="1200" dirty="0"/>
          </a:p>
        </p:txBody>
      </p:sp>
      <p:sp>
        <p:nvSpPr>
          <p:cNvPr id="39" name="Shape 36"/>
          <p:cNvSpPr/>
          <p:nvPr/>
        </p:nvSpPr>
        <p:spPr>
          <a:xfrm>
            <a:off x="3492500" y="4381500"/>
            <a:ext cx="2527300" cy="762000"/>
          </a:xfrm>
          <a:prstGeom prst="roundRect">
            <a:avLst>
              <a:gd name="adj" fmla="val 16667"/>
            </a:avLst>
          </a:prstGeom>
          <a:solidFill>
            <a:srgbClr val="1A1D1B"/>
          </a:solidFill>
          <a:ln/>
        </p:spPr>
      </p:sp>
      <p:sp>
        <p:nvSpPr>
          <p:cNvPr id="40" name="Shape 37"/>
          <p:cNvSpPr/>
          <p:nvPr/>
        </p:nvSpPr>
        <p:spPr>
          <a:xfrm>
            <a:off x="3581400" y="4381500"/>
            <a:ext cx="2349500" cy="38100"/>
          </a:xfrm>
          <a:prstGeom prst="rect">
            <a:avLst/>
          </a:prstGeom>
          <a:solidFill>
            <a:srgbClr val="00BAE2"/>
          </a:solidFill>
          <a:ln/>
        </p:spPr>
      </p:sp>
      <p:sp>
        <p:nvSpPr>
          <p:cNvPr id="41" name="Text 38"/>
          <p:cNvSpPr txBox="1"/>
          <p:nvPr/>
        </p:nvSpPr>
        <p:spPr>
          <a:xfrm>
            <a:off x="3644900" y="4546600"/>
            <a:ext cx="2222500" cy="254000"/>
          </a:xfrm>
          <a:prstGeom prst="rect">
            <a:avLst/>
          </a:prstGeom>
          <a:noFill/>
          <a:ln/>
        </p:spPr>
        <p:txBody>
          <a:bodyPr wrap="square" lIns="0" tIns="0" rIns="0" bIns="0" rtlCol="0" anchor="t"/>
          <a:lstStyle/>
          <a:p>
            <a:pPr indent="0" marL="0">
              <a:buNone/>
            </a:pPr>
            <a:r>
              <a:rPr lang="en-US" sz="1500" b="1" dirty="0">
                <a:solidFill>
                  <a:srgbClr val="00BAE2"/>
                </a:solidFill>
                <a:latin typeface="Calibri" pitchFamily="34" charset="0"/>
                <a:ea typeface="Calibri" pitchFamily="34" charset="-122"/>
                <a:cs typeface="Calibri" pitchFamily="34" charset="-120"/>
              </a:rPr>
              <a:t>Salvage</a:t>
            </a:r>
            <a:endParaRPr lang="en-US" sz="1500" dirty="0"/>
          </a:p>
        </p:txBody>
      </p:sp>
      <p:sp>
        <p:nvSpPr>
          <p:cNvPr id="42" name="Text 39"/>
          <p:cNvSpPr txBox="1"/>
          <p:nvPr/>
        </p:nvSpPr>
        <p:spPr>
          <a:xfrm>
            <a:off x="3644900" y="4826000"/>
            <a:ext cx="2222500" cy="254000"/>
          </a:xfrm>
          <a:prstGeom prst="rect">
            <a:avLst/>
          </a:prstGeom>
          <a:noFill/>
          <a:ln/>
        </p:spPr>
        <p:txBody>
          <a:bodyPr wrap="square" lIns="0" tIns="0" rIns="0" bIns="0" rtlCol="0" anchor="t"/>
          <a:lstStyle/>
          <a:p>
            <a:pPr indent="0" marL="0">
              <a:buNone/>
            </a:pPr>
            <a:r>
              <a:rPr lang="en-US" sz="1200" dirty="0">
                <a:solidFill>
                  <a:srgbClr val="BBBAA6"/>
                </a:solidFill>
                <a:latin typeface="Calibri" pitchFamily="34" charset="0"/>
                <a:ea typeface="Calibri" pitchFamily="34" charset="-122"/>
                <a:cs typeface="Calibri" pitchFamily="34" charset="-120"/>
              </a:rPr>
              <a:t>Staged for weekly pickup</a:t>
            </a:r>
            <a:endParaRPr lang="en-US" sz="1200" dirty="0"/>
          </a:p>
        </p:txBody>
      </p:sp>
      <p:sp>
        <p:nvSpPr>
          <p:cNvPr id="43" name="Shape 40"/>
          <p:cNvSpPr/>
          <p:nvPr/>
        </p:nvSpPr>
        <p:spPr>
          <a:xfrm>
            <a:off x="6172200" y="4381500"/>
            <a:ext cx="2527300" cy="762000"/>
          </a:xfrm>
          <a:prstGeom prst="roundRect">
            <a:avLst>
              <a:gd name="adj" fmla="val 16667"/>
            </a:avLst>
          </a:prstGeom>
          <a:solidFill>
            <a:srgbClr val="1A1D1B"/>
          </a:solidFill>
          <a:ln/>
        </p:spPr>
      </p:sp>
      <p:sp>
        <p:nvSpPr>
          <p:cNvPr id="44" name="Shape 41"/>
          <p:cNvSpPr/>
          <p:nvPr/>
        </p:nvSpPr>
        <p:spPr>
          <a:xfrm>
            <a:off x="6261100" y="4381500"/>
            <a:ext cx="2349500" cy="38100"/>
          </a:xfrm>
          <a:prstGeom prst="rect">
            <a:avLst/>
          </a:prstGeom>
          <a:solidFill>
            <a:srgbClr val="FF8709"/>
          </a:solidFill>
          <a:ln/>
        </p:spPr>
      </p:sp>
      <p:sp>
        <p:nvSpPr>
          <p:cNvPr id="45" name="Text 42"/>
          <p:cNvSpPr txBox="1"/>
          <p:nvPr/>
        </p:nvSpPr>
        <p:spPr>
          <a:xfrm>
            <a:off x="6324600" y="4546600"/>
            <a:ext cx="2222500" cy="254000"/>
          </a:xfrm>
          <a:prstGeom prst="rect">
            <a:avLst/>
          </a:prstGeom>
          <a:noFill/>
          <a:ln/>
        </p:spPr>
        <p:txBody>
          <a:bodyPr wrap="square" lIns="0" tIns="0" rIns="0" bIns="0" rtlCol="0" anchor="t"/>
          <a:lstStyle/>
          <a:p>
            <a:pPr indent="0" marL="0">
              <a:buNone/>
            </a:pPr>
            <a:r>
              <a:rPr lang="en-US" sz="1500" b="1" dirty="0">
                <a:solidFill>
                  <a:srgbClr val="FF8709"/>
                </a:solidFill>
                <a:latin typeface="Calibri" pitchFamily="34" charset="0"/>
                <a:ea typeface="Calibri" pitchFamily="34" charset="-122"/>
                <a:cs typeface="Calibri" pitchFamily="34" charset="-120"/>
              </a:rPr>
              <a:t>Recycle</a:t>
            </a:r>
            <a:endParaRPr lang="en-US" sz="1500" dirty="0"/>
          </a:p>
        </p:txBody>
      </p:sp>
      <p:sp>
        <p:nvSpPr>
          <p:cNvPr id="46" name="Text 43"/>
          <p:cNvSpPr txBox="1"/>
          <p:nvPr/>
        </p:nvSpPr>
        <p:spPr>
          <a:xfrm>
            <a:off x="6324600" y="4826000"/>
            <a:ext cx="2222500" cy="254000"/>
          </a:xfrm>
          <a:prstGeom prst="rect">
            <a:avLst/>
          </a:prstGeom>
          <a:noFill/>
          <a:ln/>
        </p:spPr>
        <p:txBody>
          <a:bodyPr wrap="square" lIns="0" tIns="0" rIns="0" bIns="0" rtlCol="0" anchor="t"/>
          <a:lstStyle/>
          <a:p>
            <a:pPr indent="0" marL="0">
              <a:buNone/>
            </a:pPr>
            <a:r>
              <a:rPr lang="en-US" sz="1200" dirty="0">
                <a:solidFill>
                  <a:srgbClr val="BBBAA6"/>
                </a:solidFill>
                <a:latin typeface="Calibri" pitchFamily="34" charset="0"/>
                <a:ea typeface="Calibri" pitchFamily="34" charset="-122"/>
                <a:cs typeface="Calibri" pitchFamily="34" charset="-120"/>
              </a:rPr>
              <a:t>Collected by a recycler</a:t>
            </a:r>
            <a:endParaRPr lang="en-US" sz="1200" dirty="0"/>
          </a:p>
        </p:txBody>
      </p:sp>
      <p:sp>
        <p:nvSpPr>
          <p:cNvPr id="47" name="Shape 44"/>
          <p:cNvSpPr/>
          <p:nvPr/>
        </p:nvSpPr>
        <p:spPr>
          <a:xfrm>
            <a:off x="8851900" y="4381500"/>
            <a:ext cx="2527300" cy="762000"/>
          </a:xfrm>
          <a:prstGeom prst="roundRect">
            <a:avLst>
              <a:gd name="adj" fmla="val 16667"/>
            </a:avLst>
          </a:prstGeom>
          <a:solidFill>
            <a:srgbClr val="1A1D1B"/>
          </a:solidFill>
          <a:ln/>
        </p:spPr>
      </p:sp>
      <p:sp>
        <p:nvSpPr>
          <p:cNvPr id="48" name="Shape 45"/>
          <p:cNvSpPr/>
          <p:nvPr/>
        </p:nvSpPr>
        <p:spPr>
          <a:xfrm>
            <a:off x="8940800" y="4381500"/>
            <a:ext cx="2349500" cy="38100"/>
          </a:xfrm>
          <a:prstGeom prst="rect">
            <a:avLst/>
          </a:prstGeom>
          <a:solidFill>
            <a:srgbClr val="7C7C6F"/>
          </a:solidFill>
          <a:ln/>
        </p:spPr>
      </p:sp>
      <p:sp>
        <p:nvSpPr>
          <p:cNvPr id="49" name="Text 46"/>
          <p:cNvSpPr txBox="1"/>
          <p:nvPr/>
        </p:nvSpPr>
        <p:spPr>
          <a:xfrm>
            <a:off x="9004300" y="4546600"/>
            <a:ext cx="2222500" cy="254000"/>
          </a:xfrm>
          <a:prstGeom prst="rect">
            <a:avLst/>
          </a:prstGeom>
          <a:noFill/>
          <a:ln/>
        </p:spPr>
        <p:txBody>
          <a:bodyPr wrap="square" lIns="0" tIns="0" rIns="0" bIns="0" rtlCol="0" anchor="t"/>
          <a:lstStyle/>
          <a:p>
            <a:pPr indent="0" marL="0">
              <a:buNone/>
            </a:pPr>
            <a:r>
              <a:rPr lang="en-US" sz="1500" b="1" dirty="0">
                <a:solidFill>
                  <a:srgbClr val="BBBAA6"/>
                </a:solidFill>
                <a:latin typeface="Calibri" pitchFamily="34" charset="0"/>
                <a:ea typeface="Calibri" pitchFamily="34" charset="-122"/>
                <a:cs typeface="Calibri" pitchFamily="34" charset="-120"/>
              </a:rPr>
              <a:t>Landfill</a:t>
            </a:r>
            <a:endParaRPr lang="en-US" sz="1500" dirty="0"/>
          </a:p>
        </p:txBody>
      </p:sp>
      <p:sp>
        <p:nvSpPr>
          <p:cNvPr id="50" name="Text 47"/>
          <p:cNvSpPr txBox="1"/>
          <p:nvPr/>
        </p:nvSpPr>
        <p:spPr>
          <a:xfrm>
            <a:off x="9004300" y="4826000"/>
            <a:ext cx="2222500" cy="254000"/>
          </a:xfrm>
          <a:prstGeom prst="rect">
            <a:avLst/>
          </a:prstGeom>
          <a:noFill/>
          <a:ln/>
        </p:spPr>
        <p:txBody>
          <a:bodyPr wrap="square" lIns="0" tIns="0" rIns="0" bIns="0" rtlCol="0" anchor="t"/>
          <a:lstStyle/>
          <a:p>
            <a:pPr indent="0" marL="0">
              <a:buNone/>
            </a:pPr>
            <a:r>
              <a:rPr lang="en-US" sz="1200" dirty="0">
                <a:solidFill>
                  <a:srgbClr val="BBBAA6"/>
                </a:solidFill>
                <a:latin typeface="Calibri" pitchFamily="34" charset="0"/>
                <a:ea typeface="Calibri" pitchFamily="34" charset="-122"/>
                <a:cs typeface="Calibri" pitchFamily="34" charset="-120"/>
              </a:rPr>
              <a:t>Only as a last resort</a:t>
            </a:r>
            <a:endParaRPr lang="en-US" sz="1200" dirty="0"/>
          </a:p>
        </p:txBody>
      </p:sp>
      <p:sp>
        <p:nvSpPr>
          <p:cNvPr id="51" name="Text 48"/>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8A8A78"/>
                </a:solidFill>
                <a:latin typeface="Calibri" pitchFamily="34" charset="0"/>
                <a:ea typeface="Calibri" pitchFamily="34" charset="-122"/>
                <a:cs typeface="Calibri" pitchFamily="34" charset="-120"/>
              </a:rPr>
              <a:t>Reuse match score: 40% material · 25% distance · 20% wording · 15% quantity</a:t>
            </a:r>
            <a:endParaRPr lang="en-US" sz="1200" dirty="0"/>
          </a:p>
        </p:txBody>
      </p:sp>
      <p:sp>
        <p:nvSpPr>
          <p:cNvPr id="52" name="Text 49"/>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8A8A78"/>
                </a:solidFill>
                <a:latin typeface="Calibri" pitchFamily="34" charset="0"/>
                <a:ea typeface="Calibri" pitchFamily="34" charset="-122"/>
                <a:cs typeface="Calibri"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B3D1A"/>
                </a:solidFill>
                <a:latin typeface="Calibri" pitchFamily="34" charset="0"/>
                <a:ea typeface="Calibri" pitchFamily="34" charset="-122"/>
                <a:cs typeface="Calibri" pitchFamily="34" charset="-120"/>
              </a:rPr>
              <a:t>6 · IMPACT</a:t>
            </a:r>
            <a:endParaRPr lang="en-US" sz="1400" dirty="0"/>
          </a:p>
        </p:txBody>
      </p:sp>
      <p:sp>
        <p:nvSpPr>
          <p:cNvPr id="4" name="Text 1"/>
          <p:cNvSpPr txBox="1"/>
          <p:nvPr/>
        </p:nvSpPr>
        <p:spPr>
          <a:xfrm>
            <a:off x="812800" y="1168400"/>
            <a:ext cx="10566400" cy="1270000"/>
          </a:xfrm>
          <a:prstGeom prst="rect">
            <a:avLst/>
          </a:prstGeom>
          <a:noFill/>
          <a:ln/>
        </p:spPr>
        <p:txBody>
          <a:bodyPr wrap="square" lIns="0" tIns="0" rIns="0" bIns="0" rtlCol="0" anchor="t"/>
          <a:lstStyle/>
          <a:p>
            <a:pPr indent="0" marL="0">
              <a:lnSpc>
                <a:spcPct val="95000"/>
              </a:lnSpc>
              <a:buNone/>
            </a:pPr>
            <a:r>
              <a:rPr lang="en-US" sz="4200" b="1" dirty="0">
                <a:solidFill>
                  <a:srgbClr val="0E100F"/>
                </a:solidFill>
                <a:latin typeface="Calibri" pitchFamily="34" charset="0"/>
                <a:ea typeface="Calibri" pitchFamily="34" charset="-122"/>
                <a:cs typeface="Calibri" pitchFamily="34" charset="-120"/>
              </a:rPr>
              <a:t>One handover wave,</a:t>
            </a:r>
            <a:endParaRPr lang="en-US" sz="4200" dirty="0"/>
          </a:p>
          <a:p>
            <a:pPr indent="0" marL="0">
              <a:lnSpc>
                <a:spcPct val="95000"/>
              </a:lnSpc>
              <a:buNone/>
            </a:pPr>
            <a:r>
              <a:rPr lang="en-US" sz="4200" b="1" dirty="0">
                <a:solidFill>
                  <a:srgbClr val="0E100F"/>
                </a:solidFill>
                <a:latin typeface="Calibri" pitchFamily="34" charset="0"/>
                <a:ea typeface="Calibri" pitchFamily="34" charset="-122"/>
                <a:cs typeface="Calibri" pitchFamily="34" charset="-120"/>
              </a:rPr>
              <a:t>tens of tonnes diverted</a:t>
            </a:r>
            <a:endParaRPr lang="en-US" sz="4200" dirty="0"/>
          </a:p>
        </p:txBody>
      </p:sp>
      <p:sp>
        <p:nvSpPr>
          <p:cNvPr id="5" name="Text 2"/>
          <p:cNvSpPr txBox="1"/>
          <p:nvPr/>
        </p:nvSpPr>
        <p:spPr>
          <a:xfrm>
            <a:off x="812800" y="2489200"/>
            <a:ext cx="10566400" cy="279400"/>
          </a:xfrm>
          <a:prstGeom prst="rect">
            <a:avLst/>
          </a:prstGeom>
          <a:noFill/>
          <a:ln/>
        </p:spPr>
        <p:txBody>
          <a:bodyPr wrap="square" lIns="0" tIns="0" rIns="0" bIns="0" rtlCol="0" anchor="t"/>
          <a:lstStyle/>
          <a:p>
            <a:pPr indent="0" marL="0">
              <a:buNone/>
            </a:pPr>
            <a:r>
              <a:rPr lang="en-US" sz="1500" b="1" dirty="0">
                <a:solidFill>
                  <a:srgbClr val="0B3D1A"/>
                </a:solidFill>
                <a:latin typeface="Calibri" pitchFamily="34" charset="0"/>
                <a:ea typeface="Calibri" pitchFamily="34" charset="-122"/>
                <a:cs typeface="Calibri" pitchFamily="34" charset="-120"/>
              </a:rPr>
              <a:t>Planning scenario: 300 homes · 60% renovating · 900 kg each · 30% of divertible waste captured</a:t>
            </a:r>
            <a:endParaRPr lang="en-US" sz="1500" dirty="0"/>
          </a:p>
        </p:txBody>
      </p:sp>
      <p:sp>
        <p:nvSpPr>
          <p:cNvPr id="6" name="Shape 3"/>
          <p:cNvSpPr/>
          <p:nvPr/>
        </p:nvSpPr>
        <p:spPr>
          <a:xfrm>
            <a:off x="812800" y="2895600"/>
            <a:ext cx="2527300" cy="1346200"/>
          </a:xfrm>
          <a:prstGeom prst="roundRect">
            <a:avLst>
              <a:gd name="adj" fmla="val 13208"/>
            </a:avLst>
          </a:prstGeom>
          <a:solidFill>
            <a:srgbClr val="0E100F"/>
          </a:solidFill>
          <a:ln/>
        </p:spPr>
      </p:sp>
      <p:sp>
        <p:nvSpPr>
          <p:cNvPr id="7" name="Text 4"/>
          <p:cNvSpPr txBox="1"/>
          <p:nvPr/>
        </p:nvSpPr>
        <p:spPr>
          <a:xfrm>
            <a:off x="1016000" y="3048000"/>
            <a:ext cx="2159000" cy="635000"/>
          </a:xfrm>
          <a:prstGeom prst="rect">
            <a:avLst/>
          </a:prstGeom>
          <a:noFill/>
          <a:ln/>
        </p:spPr>
        <p:txBody>
          <a:bodyPr wrap="square" lIns="0" tIns="0" rIns="0" bIns="0" rtlCol="0" anchor="t"/>
          <a:lstStyle/>
          <a:p>
            <a:pPr indent="0" marL="0">
              <a:buNone/>
            </a:pPr>
            <a:r>
              <a:rPr lang="en-US" sz="4800" b="1" dirty="0">
                <a:solidFill>
                  <a:srgbClr val="0AE448"/>
                </a:solidFill>
                <a:latin typeface="Calibri" pitchFamily="34" charset="0"/>
                <a:ea typeface="Calibri" pitchFamily="34" charset="-122"/>
                <a:cs typeface="Calibri" pitchFamily="34" charset="-120"/>
              </a:rPr>
              <a:t>162</a:t>
            </a:r>
            <a:endParaRPr lang="en-US" sz="4800" dirty="0"/>
          </a:p>
        </p:txBody>
      </p:sp>
      <p:sp>
        <p:nvSpPr>
          <p:cNvPr id="8" name="Text 5"/>
          <p:cNvSpPr txBox="1"/>
          <p:nvPr/>
        </p:nvSpPr>
        <p:spPr>
          <a:xfrm>
            <a:off x="1016000" y="3746500"/>
            <a:ext cx="2159000" cy="444500"/>
          </a:xfrm>
          <a:prstGeom prst="rect">
            <a:avLst/>
          </a:prstGeom>
          <a:noFill/>
          <a:ln/>
        </p:spPr>
        <p:txBody>
          <a:bodyPr wrap="square" lIns="0" tIns="0" rIns="0" bIns="0" rtlCol="0" anchor="t"/>
          <a:lstStyle/>
          <a:p>
            <a:pPr indent="0" marL="0">
              <a:buNone/>
            </a:pPr>
            <a:r>
              <a:rPr lang="en-US" sz="1300" dirty="0">
                <a:solidFill>
                  <a:srgbClr val="FFFCE1"/>
                </a:solidFill>
                <a:latin typeface="Calibri" pitchFamily="34" charset="0"/>
                <a:ea typeface="Calibri" pitchFamily="34" charset="-122"/>
                <a:cs typeface="Calibri" pitchFamily="34" charset="-120"/>
              </a:rPr>
              <a:t>tonnes of renovation waste expected</a:t>
            </a:r>
            <a:endParaRPr lang="en-US" sz="1300" dirty="0"/>
          </a:p>
        </p:txBody>
      </p:sp>
      <p:sp>
        <p:nvSpPr>
          <p:cNvPr id="9" name="Shape 6"/>
          <p:cNvSpPr/>
          <p:nvPr/>
        </p:nvSpPr>
        <p:spPr>
          <a:xfrm>
            <a:off x="3492500" y="2895600"/>
            <a:ext cx="2527300" cy="1346200"/>
          </a:xfrm>
          <a:prstGeom prst="roundRect">
            <a:avLst>
              <a:gd name="adj" fmla="val 13208"/>
            </a:avLst>
          </a:prstGeom>
          <a:solidFill>
            <a:srgbClr val="0E100F"/>
          </a:solidFill>
          <a:ln/>
        </p:spPr>
      </p:sp>
      <p:sp>
        <p:nvSpPr>
          <p:cNvPr id="10" name="Text 7"/>
          <p:cNvSpPr txBox="1"/>
          <p:nvPr/>
        </p:nvSpPr>
        <p:spPr>
          <a:xfrm>
            <a:off x="3695700" y="3048000"/>
            <a:ext cx="2159000" cy="635000"/>
          </a:xfrm>
          <a:prstGeom prst="rect">
            <a:avLst/>
          </a:prstGeom>
          <a:noFill/>
          <a:ln/>
        </p:spPr>
        <p:txBody>
          <a:bodyPr wrap="square" lIns="0" tIns="0" rIns="0" bIns="0" rtlCol="0" anchor="t"/>
          <a:lstStyle/>
          <a:p>
            <a:pPr indent="0" marL="0">
              <a:buNone/>
            </a:pPr>
            <a:r>
              <a:rPr lang="en-US" sz="4800" b="1" dirty="0">
                <a:solidFill>
                  <a:srgbClr val="ABFF84"/>
                </a:solidFill>
                <a:latin typeface="Calibri" pitchFamily="34" charset="0"/>
                <a:ea typeface="Calibri" pitchFamily="34" charset="-122"/>
                <a:cs typeface="Calibri" pitchFamily="34" charset="-120"/>
              </a:rPr>
              <a:t>52</a:t>
            </a:r>
            <a:endParaRPr lang="en-US" sz="4800" dirty="0"/>
          </a:p>
        </p:txBody>
      </p:sp>
      <p:sp>
        <p:nvSpPr>
          <p:cNvPr id="11" name="Text 8"/>
          <p:cNvSpPr txBox="1"/>
          <p:nvPr/>
        </p:nvSpPr>
        <p:spPr>
          <a:xfrm>
            <a:off x="3695700" y="3746500"/>
            <a:ext cx="2159000" cy="444500"/>
          </a:xfrm>
          <a:prstGeom prst="rect">
            <a:avLst/>
          </a:prstGeom>
          <a:noFill/>
          <a:ln/>
        </p:spPr>
        <p:txBody>
          <a:bodyPr wrap="square" lIns="0" tIns="0" rIns="0" bIns="0" rtlCol="0" anchor="t"/>
          <a:lstStyle/>
          <a:p>
            <a:pPr indent="0" marL="0">
              <a:buNone/>
            </a:pPr>
            <a:r>
              <a:rPr lang="en-US" sz="1300" dirty="0">
                <a:solidFill>
                  <a:srgbClr val="FFFCE1"/>
                </a:solidFill>
                <a:latin typeface="Calibri" pitchFamily="34" charset="0"/>
                <a:ea typeface="Calibri" pitchFamily="34" charset="-122"/>
                <a:cs typeface="Calibri" pitchFamily="34" charset="-120"/>
              </a:rPr>
              <a:t>tonnes divertible (32%)</a:t>
            </a:r>
            <a:endParaRPr lang="en-US" sz="1300" dirty="0"/>
          </a:p>
        </p:txBody>
      </p:sp>
      <p:sp>
        <p:nvSpPr>
          <p:cNvPr id="12" name="Shape 9"/>
          <p:cNvSpPr/>
          <p:nvPr/>
        </p:nvSpPr>
        <p:spPr>
          <a:xfrm>
            <a:off x="6172200" y="2895600"/>
            <a:ext cx="2527300" cy="1346200"/>
          </a:xfrm>
          <a:prstGeom prst="roundRect">
            <a:avLst>
              <a:gd name="adj" fmla="val 13208"/>
            </a:avLst>
          </a:prstGeom>
          <a:solidFill>
            <a:srgbClr val="0E100F"/>
          </a:solidFill>
          <a:ln/>
        </p:spPr>
      </p:sp>
      <p:sp>
        <p:nvSpPr>
          <p:cNvPr id="13" name="Text 10"/>
          <p:cNvSpPr txBox="1"/>
          <p:nvPr/>
        </p:nvSpPr>
        <p:spPr>
          <a:xfrm>
            <a:off x="6375400" y="3048000"/>
            <a:ext cx="2159000" cy="635000"/>
          </a:xfrm>
          <a:prstGeom prst="rect">
            <a:avLst/>
          </a:prstGeom>
          <a:noFill/>
          <a:ln/>
        </p:spPr>
        <p:txBody>
          <a:bodyPr wrap="square" lIns="0" tIns="0" rIns="0" bIns="0" rtlCol="0" anchor="t"/>
          <a:lstStyle/>
          <a:p>
            <a:pPr indent="0" marL="0">
              <a:buNone/>
            </a:pPr>
            <a:r>
              <a:rPr lang="en-US" sz="4800" b="1" dirty="0">
                <a:solidFill>
                  <a:srgbClr val="00BAE2"/>
                </a:solidFill>
                <a:latin typeface="Calibri" pitchFamily="34" charset="0"/>
                <a:ea typeface="Calibri" pitchFamily="34" charset="-122"/>
                <a:cs typeface="Calibri" pitchFamily="34" charset="-120"/>
              </a:rPr>
              <a:t>5.2</a:t>
            </a:r>
            <a:endParaRPr lang="en-US" sz="4800" dirty="0"/>
          </a:p>
        </p:txBody>
      </p:sp>
      <p:sp>
        <p:nvSpPr>
          <p:cNvPr id="14" name="Text 11"/>
          <p:cNvSpPr txBox="1"/>
          <p:nvPr/>
        </p:nvSpPr>
        <p:spPr>
          <a:xfrm>
            <a:off x="6375400" y="3746500"/>
            <a:ext cx="2159000" cy="444500"/>
          </a:xfrm>
          <a:prstGeom prst="rect">
            <a:avLst/>
          </a:prstGeom>
          <a:noFill/>
          <a:ln/>
        </p:spPr>
        <p:txBody>
          <a:bodyPr wrap="square" lIns="0" tIns="0" rIns="0" bIns="0" rtlCol="0" anchor="t"/>
          <a:lstStyle/>
          <a:p>
            <a:pPr indent="0" marL="0">
              <a:buNone/>
            </a:pPr>
            <a:r>
              <a:rPr lang="en-US" sz="1300" dirty="0">
                <a:solidFill>
                  <a:srgbClr val="FFFCE1"/>
                </a:solidFill>
                <a:latin typeface="Calibri" pitchFamily="34" charset="0"/>
                <a:ea typeface="Calibri" pitchFamily="34" charset="-122"/>
                <a:cs typeface="Calibri" pitchFamily="34" charset="-120"/>
              </a:rPr>
              <a:t>of 54 skip-bin loads avoided</a:t>
            </a:r>
            <a:endParaRPr lang="en-US" sz="1300" dirty="0"/>
          </a:p>
        </p:txBody>
      </p:sp>
      <p:sp>
        <p:nvSpPr>
          <p:cNvPr id="15" name="Shape 12"/>
          <p:cNvSpPr/>
          <p:nvPr/>
        </p:nvSpPr>
        <p:spPr>
          <a:xfrm>
            <a:off x="8851900" y="2895600"/>
            <a:ext cx="2527300" cy="1346200"/>
          </a:xfrm>
          <a:prstGeom prst="roundRect">
            <a:avLst>
              <a:gd name="adj" fmla="val 13208"/>
            </a:avLst>
          </a:prstGeom>
          <a:solidFill>
            <a:srgbClr val="0E100F"/>
          </a:solidFill>
          <a:ln/>
        </p:spPr>
      </p:sp>
      <p:sp>
        <p:nvSpPr>
          <p:cNvPr id="16" name="Text 13"/>
          <p:cNvSpPr txBox="1"/>
          <p:nvPr/>
        </p:nvSpPr>
        <p:spPr>
          <a:xfrm>
            <a:off x="9055100" y="3048000"/>
            <a:ext cx="2159000" cy="635000"/>
          </a:xfrm>
          <a:prstGeom prst="rect">
            <a:avLst/>
          </a:prstGeom>
          <a:noFill/>
          <a:ln/>
        </p:spPr>
        <p:txBody>
          <a:bodyPr wrap="square" lIns="0" tIns="0" rIns="0" bIns="0" rtlCol="0" anchor="t"/>
          <a:lstStyle/>
          <a:p>
            <a:pPr indent="0" marL="0">
              <a:buNone/>
            </a:pPr>
            <a:r>
              <a:rPr lang="en-US" sz="4800" b="1" dirty="0">
                <a:solidFill>
                  <a:srgbClr val="9D95FF"/>
                </a:solidFill>
                <a:latin typeface="Calibri" pitchFamily="34" charset="0"/>
                <a:ea typeface="Calibri" pitchFamily="34" charset="-122"/>
                <a:cs typeface="Calibri" pitchFamily="34" charset="-120"/>
              </a:rPr>
              <a:t>10.9</a:t>
            </a:r>
            <a:endParaRPr lang="en-US" sz="4800" dirty="0"/>
          </a:p>
        </p:txBody>
      </p:sp>
      <p:sp>
        <p:nvSpPr>
          <p:cNvPr id="17" name="Text 14"/>
          <p:cNvSpPr txBox="1"/>
          <p:nvPr/>
        </p:nvSpPr>
        <p:spPr>
          <a:xfrm>
            <a:off x="9055100" y="3746500"/>
            <a:ext cx="2159000" cy="444500"/>
          </a:xfrm>
          <a:prstGeom prst="rect">
            <a:avLst/>
          </a:prstGeom>
          <a:noFill/>
          <a:ln/>
        </p:spPr>
        <p:txBody>
          <a:bodyPr wrap="square" lIns="0" tIns="0" rIns="0" bIns="0" rtlCol="0" anchor="t"/>
          <a:lstStyle/>
          <a:p>
            <a:pPr indent="0" marL="0">
              <a:buNone/>
            </a:pPr>
            <a:r>
              <a:rPr lang="en-US" sz="1300" dirty="0">
                <a:solidFill>
                  <a:srgbClr val="FFFCE1"/>
                </a:solidFill>
                <a:latin typeface="Calibri" pitchFamily="34" charset="0"/>
                <a:ea typeface="Calibri" pitchFamily="34" charset="-122"/>
                <a:cs typeface="Calibri" pitchFamily="34" charset="-120"/>
              </a:rPr>
              <a:t>tonnes CO₂e avoided (estimate)</a:t>
            </a:r>
            <a:endParaRPr lang="en-US" sz="1300" dirty="0"/>
          </a:p>
        </p:txBody>
      </p:sp>
      <p:sp>
        <p:nvSpPr>
          <p:cNvPr id="18" name="Shape 15"/>
          <p:cNvSpPr/>
          <p:nvPr/>
        </p:nvSpPr>
        <p:spPr>
          <a:xfrm>
            <a:off x="812800" y="4432300"/>
            <a:ext cx="3420554" cy="698500"/>
          </a:xfrm>
          <a:prstGeom prst="roundRect">
            <a:avLst>
              <a:gd name="adj" fmla="val 18182"/>
            </a:avLst>
          </a:prstGeom>
          <a:solidFill>
            <a:srgbClr val="B9FFA1"/>
          </a:solidFill>
          <a:ln/>
        </p:spPr>
      </p:sp>
      <p:sp>
        <p:nvSpPr>
          <p:cNvPr id="19" name="Text 16"/>
          <p:cNvSpPr txBox="1"/>
          <p:nvPr/>
        </p:nvSpPr>
        <p:spPr>
          <a:xfrm>
            <a:off x="977900" y="4432300"/>
            <a:ext cx="3111500" cy="698500"/>
          </a:xfrm>
          <a:prstGeom prst="rect">
            <a:avLst/>
          </a:prstGeom>
          <a:noFill/>
          <a:ln/>
        </p:spPr>
        <p:txBody>
          <a:bodyPr wrap="square" lIns="0" tIns="0" rIns="0" bIns="0" rtlCol="0" anchor="ctr"/>
          <a:lstStyle/>
          <a:p>
            <a:pPr indent="0" marL="0">
              <a:buNone/>
            </a:pPr>
            <a:r>
              <a:rPr lang="en-US" sz="1300" b="1" dirty="0">
                <a:solidFill>
                  <a:srgbClr val="0E100F"/>
                </a:solidFill>
                <a:latin typeface="Calibri" pitchFamily="34" charset="0"/>
                <a:ea typeface="Calibri" pitchFamily="34" charset="-122"/>
                <a:cs typeface="Calibri" pitchFamily="34" charset="-120"/>
              </a:rPr>
              <a:t>Township:</a:t>
            </a:r>
            <a:pPr indent="0" marL="0">
              <a:buNone/>
            </a:pPr>
            <a:r>
              <a:rPr lang="en-US" sz="1300" dirty="0">
                <a:solidFill>
                  <a:srgbClr val="0E100F"/>
                </a:solidFill>
                <a:latin typeface="Calibri" pitchFamily="34" charset="0"/>
                <a:ea typeface="Calibri" pitchFamily="34" charset="-122"/>
                <a:cs typeface="Calibri" pitchFamily="34" charset="-120"/>
              </a:rPr>
              <a:t> less waste to haul, numbers to report</a:t>
            </a:r>
            <a:endParaRPr lang="en-US" sz="1300" dirty="0"/>
          </a:p>
        </p:txBody>
      </p:sp>
      <p:sp>
        <p:nvSpPr>
          <p:cNvPr id="20" name="Shape 17"/>
          <p:cNvSpPr/>
          <p:nvPr/>
        </p:nvSpPr>
        <p:spPr>
          <a:xfrm>
            <a:off x="4385755" y="4432300"/>
            <a:ext cx="3420554" cy="698500"/>
          </a:xfrm>
          <a:prstGeom prst="roundRect">
            <a:avLst>
              <a:gd name="adj" fmla="val 18182"/>
            </a:avLst>
          </a:prstGeom>
          <a:solidFill>
            <a:srgbClr val="B9FFA1"/>
          </a:solidFill>
          <a:ln/>
        </p:spPr>
      </p:sp>
      <p:sp>
        <p:nvSpPr>
          <p:cNvPr id="21" name="Text 18"/>
          <p:cNvSpPr txBox="1"/>
          <p:nvPr/>
        </p:nvSpPr>
        <p:spPr>
          <a:xfrm>
            <a:off x="4550855" y="4432300"/>
            <a:ext cx="3111500" cy="698500"/>
          </a:xfrm>
          <a:prstGeom prst="rect">
            <a:avLst/>
          </a:prstGeom>
          <a:noFill/>
          <a:ln/>
        </p:spPr>
        <p:txBody>
          <a:bodyPr wrap="square" lIns="0" tIns="0" rIns="0" bIns="0" rtlCol="0" anchor="ctr"/>
          <a:lstStyle/>
          <a:p>
            <a:pPr indent="0" marL="0">
              <a:buNone/>
            </a:pPr>
            <a:r>
              <a:rPr lang="en-US" sz="1300" b="1" dirty="0">
                <a:solidFill>
                  <a:srgbClr val="0E100F"/>
                </a:solidFill>
                <a:latin typeface="Calibri" pitchFamily="34" charset="0"/>
                <a:ea typeface="Calibri" pitchFamily="34" charset="-122"/>
                <a:cs typeface="Calibri" pitchFamily="34" charset="-120"/>
              </a:rPr>
              <a:t>Residents:</a:t>
            </a:r>
            <a:pPr indent="0" marL="0">
              <a:buNone/>
            </a:pPr>
            <a:r>
              <a:rPr lang="en-US" sz="1300" dirty="0">
                <a:solidFill>
                  <a:srgbClr val="0E100F"/>
                </a:solidFill>
                <a:latin typeface="Calibri" pitchFamily="34" charset="0"/>
                <a:ea typeface="Calibri" pitchFamily="34" charset="-122"/>
                <a:cs typeface="Calibri" pitchFamily="34" charset="-120"/>
              </a:rPr>
              <a:t> free materials and green points</a:t>
            </a:r>
            <a:endParaRPr lang="en-US" sz="1300" dirty="0"/>
          </a:p>
        </p:txBody>
      </p:sp>
      <p:sp>
        <p:nvSpPr>
          <p:cNvPr id="22" name="Shape 19"/>
          <p:cNvSpPr/>
          <p:nvPr/>
        </p:nvSpPr>
        <p:spPr>
          <a:xfrm>
            <a:off x="7958709" y="4432300"/>
            <a:ext cx="3420554" cy="698500"/>
          </a:xfrm>
          <a:prstGeom prst="roundRect">
            <a:avLst>
              <a:gd name="adj" fmla="val 18182"/>
            </a:avLst>
          </a:prstGeom>
          <a:solidFill>
            <a:srgbClr val="B9FFA1"/>
          </a:solidFill>
          <a:ln/>
        </p:spPr>
      </p:sp>
      <p:sp>
        <p:nvSpPr>
          <p:cNvPr id="23" name="Text 20"/>
          <p:cNvSpPr txBox="1"/>
          <p:nvPr/>
        </p:nvSpPr>
        <p:spPr>
          <a:xfrm>
            <a:off x="8123809" y="4432300"/>
            <a:ext cx="3111500" cy="698500"/>
          </a:xfrm>
          <a:prstGeom prst="rect">
            <a:avLst/>
          </a:prstGeom>
          <a:noFill/>
          <a:ln/>
        </p:spPr>
        <p:txBody>
          <a:bodyPr wrap="square" lIns="0" tIns="0" rIns="0" bIns="0" rtlCol="0" anchor="ctr"/>
          <a:lstStyle/>
          <a:p>
            <a:pPr indent="0" marL="0">
              <a:buNone/>
            </a:pPr>
            <a:r>
              <a:rPr lang="en-US" sz="1300" b="1" dirty="0">
                <a:solidFill>
                  <a:srgbClr val="0E100F"/>
                </a:solidFill>
                <a:latin typeface="Calibri" pitchFamily="34" charset="0"/>
                <a:ea typeface="Calibri" pitchFamily="34" charset="-122"/>
                <a:cs typeface="Calibri" pitchFamily="34" charset="-120"/>
              </a:rPr>
              <a:t>Environment:</a:t>
            </a:r>
            <a:pPr indent="0" marL="0">
              <a:buNone/>
            </a:pPr>
            <a:r>
              <a:rPr lang="en-US" sz="1300" dirty="0">
                <a:solidFill>
                  <a:srgbClr val="0E100F"/>
                </a:solidFill>
                <a:latin typeface="Calibri" pitchFamily="34" charset="0"/>
                <a:ea typeface="Calibri" pitchFamily="34" charset="-122"/>
                <a:cs typeface="Calibri" pitchFamily="34" charset="-120"/>
              </a:rPr>
              <a:t> less landfill, less new material</a:t>
            </a:r>
            <a:endParaRPr lang="en-US" sz="1300" dirty="0"/>
          </a:p>
        </p:txBody>
      </p:sp>
      <p:sp>
        <p:nvSpPr>
          <p:cNvPr id="24" name="Text 21"/>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0B3D1A"/>
                </a:solidFill>
                <a:latin typeface="Calibri" pitchFamily="34" charset="0"/>
                <a:ea typeface="Calibri" pitchFamily="34" charset="-122"/>
                <a:cs typeface="Calibri" pitchFamily="34" charset="-120"/>
              </a:rPr>
              <a:t>All inputs are assumptions. Replace waste per home with precinct data in a pilot.</a:t>
            </a:r>
            <a:endParaRPr lang="en-US" sz="1200" dirty="0"/>
          </a:p>
        </p:txBody>
      </p:sp>
      <p:sp>
        <p:nvSpPr>
          <p:cNvPr id="25" name="Text 22"/>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0B3D1A"/>
                </a:solidFill>
                <a:latin typeface="Calibri" pitchFamily="34" charset="0"/>
                <a:ea typeface="Calibri" pitchFamily="34" charset="-122"/>
                <a:cs typeface="Calibri"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6B28"/>
                </a:solidFill>
                <a:latin typeface="Calibri" pitchFamily="34" charset="0"/>
                <a:ea typeface="Calibri" pitchFamily="34" charset="-122"/>
                <a:cs typeface="Calibri" pitchFamily="34" charset="-120"/>
              </a:rPr>
              <a:t>7 · FEASIBILITY</a:t>
            </a:r>
            <a:endParaRPr lang="en-US" sz="1400" dirty="0"/>
          </a:p>
        </p:txBody>
      </p:sp>
      <p:sp>
        <p:nvSpPr>
          <p:cNvPr id="4" name="Text 1"/>
          <p:cNvSpPr txBox="1"/>
          <p:nvPr/>
        </p:nvSpPr>
        <p:spPr>
          <a:xfrm>
            <a:off x="812800" y="1168400"/>
            <a:ext cx="10566400" cy="635000"/>
          </a:xfrm>
          <a:prstGeom prst="rect">
            <a:avLst/>
          </a:prstGeom>
          <a:noFill/>
          <a:ln/>
        </p:spPr>
        <p:txBody>
          <a:bodyPr wrap="square" lIns="0" tIns="0" rIns="0" bIns="0" rtlCol="0" anchor="t"/>
          <a:lstStyle/>
          <a:p>
            <a:pPr indent="0" marL="0">
              <a:lnSpc>
                <a:spcPct val="95000"/>
              </a:lnSpc>
              <a:buNone/>
            </a:pPr>
            <a:r>
              <a:rPr lang="en-US" sz="4200" b="1" dirty="0">
                <a:solidFill>
                  <a:srgbClr val="14201A"/>
                </a:solidFill>
                <a:latin typeface="Calibri" pitchFamily="34" charset="0"/>
                <a:ea typeface="Calibri" pitchFamily="34" charset="-122"/>
                <a:cs typeface="Calibri" pitchFamily="34" charset="-120"/>
              </a:rPr>
              <a:t>It already runs</a:t>
            </a:r>
            <a:endParaRPr lang="en-US" sz="4200" dirty="0"/>
          </a:p>
        </p:txBody>
      </p:sp>
      <p:sp>
        <p:nvSpPr>
          <p:cNvPr id="5" name="Shape 2"/>
          <p:cNvSpPr/>
          <p:nvPr/>
        </p:nvSpPr>
        <p:spPr>
          <a:xfrm>
            <a:off x="812800" y="1905000"/>
            <a:ext cx="4641850" cy="3683000"/>
          </a:xfrm>
          <a:prstGeom prst="roundRect">
            <a:avLst>
              <a:gd name="adj" fmla="val 4828"/>
            </a:avLst>
          </a:prstGeom>
          <a:solidFill>
            <a:srgbClr val="14201A"/>
          </a:solidFill>
          <a:ln/>
        </p:spPr>
      </p:sp>
      <p:sp>
        <p:nvSpPr>
          <p:cNvPr id="6" name="Text 3"/>
          <p:cNvSpPr txBox="1"/>
          <p:nvPr/>
        </p:nvSpPr>
        <p:spPr>
          <a:xfrm>
            <a:off x="1066800" y="2108200"/>
            <a:ext cx="4127500" cy="3175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What exists today</a:t>
            </a:r>
            <a:endParaRPr lang="en-US" sz="1800" dirty="0"/>
          </a:p>
        </p:txBody>
      </p:sp>
      <p:sp>
        <p:nvSpPr>
          <p:cNvPr id="7" name="Shape 4"/>
          <p:cNvSpPr/>
          <p:nvPr/>
        </p:nvSpPr>
        <p:spPr>
          <a:xfrm>
            <a:off x="1066800" y="2628900"/>
            <a:ext cx="254000" cy="254000"/>
          </a:xfrm>
          <a:prstGeom prst="ellipse">
            <a:avLst/>
          </a:prstGeom>
          <a:solidFill>
            <a:srgbClr val="0AE448"/>
          </a:solidFill>
          <a:ln/>
        </p:spPr>
      </p:sp>
      <p:sp>
        <p:nvSpPr>
          <p:cNvPr id="8" name="Text 5"/>
          <p:cNvSpPr txBox="1"/>
          <p:nvPr/>
        </p:nvSpPr>
        <p:spPr>
          <a:xfrm>
            <a:off x="1066800" y="2628900"/>
            <a:ext cx="254000" cy="254000"/>
          </a:xfrm>
          <a:prstGeom prst="rect">
            <a:avLst/>
          </a:prstGeom>
          <a:noFill/>
          <a:ln/>
        </p:spPr>
        <p:txBody>
          <a:bodyPr wrap="square" lIns="0" tIns="0" rIns="0" bIns="0" rtlCol="0" anchor="ctr"/>
          <a:lstStyle/>
          <a:p>
            <a:pPr algn="ctr" indent="0" marL="0">
              <a:buNone/>
            </a:pPr>
            <a:r>
              <a:rPr lang="en-US" sz="1400" b="1" dirty="0">
                <a:solidFill>
                  <a:srgbClr val="0E100F"/>
                </a:solidFill>
                <a:latin typeface="Calibri" pitchFamily="34" charset="0"/>
                <a:ea typeface="Calibri" pitchFamily="34" charset="-122"/>
                <a:cs typeface="Calibri" pitchFamily="34" charset="-120"/>
              </a:rPr>
              <a:t>✓</a:t>
            </a:r>
            <a:endParaRPr lang="en-US" sz="1400" dirty="0"/>
          </a:p>
        </p:txBody>
      </p:sp>
      <p:sp>
        <p:nvSpPr>
          <p:cNvPr id="9" name="Text 6"/>
          <p:cNvSpPr txBox="1"/>
          <p:nvPr/>
        </p:nvSpPr>
        <p:spPr>
          <a:xfrm>
            <a:off x="1447800" y="2565400"/>
            <a:ext cx="3746500" cy="482600"/>
          </a:xfrm>
          <a:prstGeom prst="rect">
            <a:avLst/>
          </a:prstGeom>
          <a:noFill/>
          <a:ln/>
        </p:spPr>
        <p:txBody>
          <a:bodyPr wrap="square" lIns="0" tIns="0" rIns="0" bIns="0" rtlCol="0" anchor="ctr"/>
          <a:lstStyle/>
          <a:p>
            <a:pPr indent="0" marL="0">
              <a:buNone/>
            </a:pPr>
            <a:r>
              <a:rPr lang="en-US" sz="1400" dirty="0">
                <a:solidFill>
                  <a:srgbClr val="E8E5D0"/>
                </a:solidFill>
                <a:latin typeface="Calibri" pitchFamily="34" charset="0"/>
                <a:ea typeface="Calibri" pitchFamily="34" charset="-122"/>
                <a:cs typeface="Calibri" pitchFamily="34" charset="-120"/>
              </a:rPr>
              <a:t>Working prototype in Python and Streamlit</a:t>
            </a:r>
            <a:endParaRPr lang="en-US" sz="1400" dirty="0"/>
          </a:p>
        </p:txBody>
      </p:sp>
      <p:sp>
        <p:nvSpPr>
          <p:cNvPr id="10" name="Shape 7"/>
          <p:cNvSpPr/>
          <p:nvPr/>
        </p:nvSpPr>
        <p:spPr>
          <a:xfrm>
            <a:off x="1066800" y="3187700"/>
            <a:ext cx="254000" cy="254000"/>
          </a:xfrm>
          <a:prstGeom prst="ellipse">
            <a:avLst/>
          </a:prstGeom>
          <a:solidFill>
            <a:srgbClr val="0AE448"/>
          </a:solidFill>
          <a:ln/>
        </p:spPr>
      </p:sp>
      <p:sp>
        <p:nvSpPr>
          <p:cNvPr id="11" name="Text 8"/>
          <p:cNvSpPr txBox="1"/>
          <p:nvPr/>
        </p:nvSpPr>
        <p:spPr>
          <a:xfrm>
            <a:off x="1066800" y="3187700"/>
            <a:ext cx="254000" cy="254000"/>
          </a:xfrm>
          <a:prstGeom prst="rect">
            <a:avLst/>
          </a:prstGeom>
          <a:noFill/>
          <a:ln/>
        </p:spPr>
        <p:txBody>
          <a:bodyPr wrap="square" lIns="0" tIns="0" rIns="0" bIns="0" rtlCol="0" anchor="ctr"/>
          <a:lstStyle/>
          <a:p>
            <a:pPr algn="ctr" indent="0" marL="0">
              <a:buNone/>
            </a:pPr>
            <a:r>
              <a:rPr lang="en-US" sz="1400" b="1" dirty="0">
                <a:solidFill>
                  <a:srgbClr val="0E100F"/>
                </a:solidFill>
                <a:latin typeface="Calibri" pitchFamily="34" charset="0"/>
                <a:ea typeface="Calibri" pitchFamily="34" charset="-122"/>
                <a:cs typeface="Calibri" pitchFamily="34" charset="-120"/>
              </a:rPr>
              <a:t>✓</a:t>
            </a:r>
            <a:endParaRPr lang="en-US" sz="1400" dirty="0"/>
          </a:p>
        </p:txBody>
      </p:sp>
      <p:sp>
        <p:nvSpPr>
          <p:cNvPr id="12" name="Text 9"/>
          <p:cNvSpPr txBox="1"/>
          <p:nvPr/>
        </p:nvSpPr>
        <p:spPr>
          <a:xfrm>
            <a:off x="1447800" y="3124200"/>
            <a:ext cx="3746500" cy="482600"/>
          </a:xfrm>
          <a:prstGeom prst="rect">
            <a:avLst/>
          </a:prstGeom>
          <a:noFill/>
          <a:ln/>
        </p:spPr>
        <p:txBody>
          <a:bodyPr wrap="square" lIns="0" tIns="0" rIns="0" bIns="0" rtlCol="0" anchor="ctr"/>
          <a:lstStyle/>
          <a:p>
            <a:pPr indent="0" marL="0">
              <a:buNone/>
            </a:pPr>
            <a:r>
              <a:rPr lang="en-US" sz="1400" dirty="0">
                <a:solidFill>
                  <a:srgbClr val="E8E5D0"/>
                </a:solidFill>
                <a:latin typeface="Calibri" pitchFamily="34" charset="0"/>
                <a:ea typeface="Calibri" pitchFamily="34" charset="-122"/>
                <a:cs typeface="Calibri" pitchFamily="34" charset="-120"/>
              </a:rPr>
              <a:t>Full loop: log, route, agree, confirm, report</a:t>
            </a:r>
            <a:endParaRPr lang="en-US" sz="1400" dirty="0"/>
          </a:p>
        </p:txBody>
      </p:sp>
      <p:sp>
        <p:nvSpPr>
          <p:cNvPr id="13" name="Shape 10"/>
          <p:cNvSpPr/>
          <p:nvPr/>
        </p:nvSpPr>
        <p:spPr>
          <a:xfrm>
            <a:off x="1066800" y="3746500"/>
            <a:ext cx="254000" cy="254000"/>
          </a:xfrm>
          <a:prstGeom prst="ellipse">
            <a:avLst/>
          </a:prstGeom>
          <a:solidFill>
            <a:srgbClr val="0AE448"/>
          </a:solidFill>
          <a:ln/>
        </p:spPr>
      </p:sp>
      <p:sp>
        <p:nvSpPr>
          <p:cNvPr id="14" name="Text 11"/>
          <p:cNvSpPr txBox="1"/>
          <p:nvPr/>
        </p:nvSpPr>
        <p:spPr>
          <a:xfrm>
            <a:off x="1066800" y="3746500"/>
            <a:ext cx="254000" cy="254000"/>
          </a:xfrm>
          <a:prstGeom prst="rect">
            <a:avLst/>
          </a:prstGeom>
          <a:noFill/>
          <a:ln/>
        </p:spPr>
        <p:txBody>
          <a:bodyPr wrap="square" lIns="0" tIns="0" rIns="0" bIns="0" rtlCol="0" anchor="ctr"/>
          <a:lstStyle/>
          <a:p>
            <a:pPr algn="ctr" indent="0" marL="0">
              <a:buNone/>
            </a:pPr>
            <a:r>
              <a:rPr lang="en-US" sz="1400" b="1" dirty="0">
                <a:solidFill>
                  <a:srgbClr val="0E100F"/>
                </a:solidFill>
                <a:latin typeface="Calibri" pitchFamily="34" charset="0"/>
                <a:ea typeface="Calibri" pitchFamily="34" charset="-122"/>
                <a:cs typeface="Calibri" pitchFamily="34" charset="-120"/>
              </a:rPr>
              <a:t>✓</a:t>
            </a:r>
            <a:endParaRPr lang="en-US" sz="1400" dirty="0"/>
          </a:p>
        </p:txBody>
      </p:sp>
      <p:sp>
        <p:nvSpPr>
          <p:cNvPr id="15" name="Text 12"/>
          <p:cNvSpPr txBox="1"/>
          <p:nvPr/>
        </p:nvSpPr>
        <p:spPr>
          <a:xfrm>
            <a:off x="1447800" y="3683000"/>
            <a:ext cx="3746500" cy="482600"/>
          </a:xfrm>
          <a:prstGeom prst="rect">
            <a:avLst/>
          </a:prstGeom>
          <a:noFill/>
          <a:ln/>
        </p:spPr>
        <p:txBody>
          <a:bodyPr wrap="square" lIns="0" tIns="0" rIns="0" bIns="0" rtlCol="0" anchor="ctr"/>
          <a:lstStyle/>
          <a:p>
            <a:pPr indent="0" marL="0">
              <a:buNone/>
            </a:pPr>
            <a:r>
              <a:rPr lang="en-US" sz="1400" dirty="0">
                <a:solidFill>
                  <a:srgbClr val="E8E5D0"/>
                </a:solidFill>
                <a:latin typeface="Calibri" pitchFamily="34" charset="0"/>
                <a:ea typeface="Calibri" pitchFamily="34" charset="-122"/>
                <a:cs typeface="Calibri" pitchFamily="34" charset="-120"/>
              </a:rPr>
              <a:t>No proprietary data needed</a:t>
            </a:r>
            <a:endParaRPr lang="en-US" sz="1400" dirty="0"/>
          </a:p>
        </p:txBody>
      </p:sp>
      <p:sp>
        <p:nvSpPr>
          <p:cNvPr id="16" name="Shape 13"/>
          <p:cNvSpPr/>
          <p:nvPr/>
        </p:nvSpPr>
        <p:spPr>
          <a:xfrm>
            <a:off x="1066800" y="4305300"/>
            <a:ext cx="254000" cy="254000"/>
          </a:xfrm>
          <a:prstGeom prst="ellipse">
            <a:avLst/>
          </a:prstGeom>
          <a:solidFill>
            <a:srgbClr val="0AE448"/>
          </a:solidFill>
          <a:ln/>
        </p:spPr>
      </p:sp>
      <p:sp>
        <p:nvSpPr>
          <p:cNvPr id="17" name="Text 14"/>
          <p:cNvSpPr txBox="1"/>
          <p:nvPr/>
        </p:nvSpPr>
        <p:spPr>
          <a:xfrm>
            <a:off x="1066800" y="4305300"/>
            <a:ext cx="254000" cy="254000"/>
          </a:xfrm>
          <a:prstGeom prst="rect">
            <a:avLst/>
          </a:prstGeom>
          <a:noFill/>
          <a:ln/>
        </p:spPr>
        <p:txBody>
          <a:bodyPr wrap="square" lIns="0" tIns="0" rIns="0" bIns="0" rtlCol="0" anchor="ctr"/>
          <a:lstStyle/>
          <a:p>
            <a:pPr algn="ctr" indent="0" marL="0">
              <a:buNone/>
            </a:pPr>
            <a:r>
              <a:rPr lang="en-US" sz="1400" b="1" dirty="0">
                <a:solidFill>
                  <a:srgbClr val="0E100F"/>
                </a:solidFill>
                <a:latin typeface="Calibri" pitchFamily="34" charset="0"/>
                <a:ea typeface="Calibri" pitchFamily="34" charset="-122"/>
                <a:cs typeface="Calibri" pitchFamily="34" charset="-120"/>
              </a:rPr>
              <a:t>✓</a:t>
            </a:r>
            <a:endParaRPr lang="en-US" sz="1400" dirty="0"/>
          </a:p>
        </p:txBody>
      </p:sp>
      <p:sp>
        <p:nvSpPr>
          <p:cNvPr id="18" name="Text 15"/>
          <p:cNvSpPr txBox="1"/>
          <p:nvPr/>
        </p:nvSpPr>
        <p:spPr>
          <a:xfrm>
            <a:off x="1447800" y="4241800"/>
            <a:ext cx="3746500" cy="482600"/>
          </a:xfrm>
          <a:prstGeom prst="rect">
            <a:avLst/>
          </a:prstGeom>
          <a:noFill/>
          <a:ln/>
        </p:spPr>
        <p:txBody>
          <a:bodyPr wrap="square" lIns="0" tIns="0" rIns="0" bIns="0" rtlCol="0" anchor="ctr"/>
          <a:lstStyle/>
          <a:p>
            <a:pPr indent="0" marL="0">
              <a:buNone/>
            </a:pPr>
            <a:r>
              <a:rPr lang="en-US" sz="1400" dirty="0">
                <a:solidFill>
                  <a:srgbClr val="E8E5D0"/>
                </a:solidFill>
                <a:latin typeface="Calibri" pitchFamily="34" charset="0"/>
                <a:ea typeface="Calibri" pitchFamily="34" charset="-122"/>
                <a:cs typeface="Calibri" pitchFamily="34" charset="-120"/>
              </a:rPr>
              <a:t>Carbon factors from public databases</a:t>
            </a:r>
            <a:endParaRPr lang="en-US" sz="1400" dirty="0"/>
          </a:p>
        </p:txBody>
      </p:sp>
      <p:sp>
        <p:nvSpPr>
          <p:cNvPr id="19" name="Shape 16"/>
          <p:cNvSpPr/>
          <p:nvPr/>
        </p:nvSpPr>
        <p:spPr>
          <a:xfrm>
            <a:off x="1066800" y="4864100"/>
            <a:ext cx="254000" cy="254000"/>
          </a:xfrm>
          <a:prstGeom prst="ellipse">
            <a:avLst/>
          </a:prstGeom>
          <a:solidFill>
            <a:srgbClr val="FF8709"/>
          </a:solidFill>
          <a:ln/>
        </p:spPr>
      </p:sp>
      <p:sp>
        <p:nvSpPr>
          <p:cNvPr id="20" name="Text 17"/>
          <p:cNvSpPr txBox="1"/>
          <p:nvPr/>
        </p:nvSpPr>
        <p:spPr>
          <a:xfrm>
            <a:off x="1066800" y="4864100"/>
            <a:ext cx="254000" cy="254000"/>
          </a:xfrm>
          <a:prstGeom prst="rect">
            <a:avLst/>
          </a:prstGeom>
          <a:noFill/>
          <a:ln/>
        </p:spPr>
        <p:txBody>
          <a:bodyPr wrap="square" lIns="0" tIns="0" rIns="0" bIns="0" rtlCol="0" anchor="ctr"/>
          <a:lstStyle/>
          <a:p>
            <a:pPr algn="ctr" indent="0" marL="0">
              <a:buNone/>
            </a:pPr>
            <a:r>
              <a:rPr lang="en-US" sz="1400" b="1" dirty="0">
                <a:solidFill>
                  <a:srgbClr val="0E100F"/>
                </a:solidFill>
                <a:latin typeface="Calibri" pitchFamily="34" charset="0"/>
                <a:ea typeface="Calibri" pitchFamily="34" charset="-122"/>
                <a:cs typeface="Calibri" pitchFamily="34" charset="-120"/>
              </a:rPr>
              <a:t>!</a:t>
            </a:r>
            <a:endParaRPr lang="en-US" sz="1400" dirty="0"/>
          </a:p>
        </p:txBody>
      </p:sp>
      <p:sp>
        <p:nvSpPr>
          <p:cNvPr id="21" name="Text 18"/>
          <p:cNvSpPr txBox="1"/>
          <p:nvPr/>
        </p:nvSpPr>
        <p:spPr>
          <a:xfrm>
            <a:off x="1447800" y="4800600"/>
            <a:ext cx="3746500" cy="482600"/>
          </a:xfrm>
          <a:prstGeom prst="rect">
            <a:avLst/>
          </a:prstGeom>
          <a:noFill/>
          <a:ln/>
        </p:spPr>
        <p:txBody>
          <a:bodyPr wrap="square" lIns="0" tIns="0" rIns="0" bIns="0" rtlCol="0" anchor="ctr"/>
          <a:lstStyle/>
          <a:p>
            <a:pPr indent="0" marL="0">
              <a:buNone/>
            </a:pPr>
            <a:r>
              <a:rPr lang="en-US" sz="1400" dirty="0">
                <a:solidFill>
                  <a:srgbClr val="E8E5D0"/>
                </a:solidFill>
                <a:latin typeface="Calibri" pitchFamily="34" charset="0"/>
                <a:ea typeface="Calibri" pitchFamily="34" charset="-122"/>
                <a:cs typeface="Calibri" pitchFamily="34" charset="-120"/>
              </a:rPr>
              <a:t>Needs guardhouse space, a salvage partner, a recycler and JMB support</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08650" y="1905000"/>
          <a:ext cx="5670550" cy="914400"/>
        </p:xfrm>
        <a:graphic>
          <a:graphicData uri="http://schemas.openxmlformats.org/drawingml/2006/table">
            <a:tbl>
              <a:tblPr/>
              <a:tblGrid>
                <a:gridCol w="2154809"/>
                <a:gridCol w="3515741"/>
              </a:tblGrid>
              <a:tr h="457200">
                <a:tc>
                  <a:txBody>
                    <a:bodyPr/>
                    <a:lstStyle/>
                    <a:p>
                      <a:pPr indent="0" marL="0">
                        <a:buNone/>
                      </a:pPr>
                      <a:r>
                        <a:rPr lang="en-US" sz="1300" b="1" dirty="0">
                          <a:solidFill>
                            <a:srgbClr val="14201A"/>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solidFill>
                      <a:srgbClr val="E2DEC8"/>
                    </a:solidFill>
                  </a:tcPr>
                </a:tc>
                <a:tc>
                  <a:txBody>
                    <a:bodyPr/>
                    <a:lstStyle/>
                    <a:p>
                      <a:pPr indent="0" marL="0">
                        <a:buNone/>
                      </a:pPr>
                      <a:r>
                        <a:rPr lang="en-US" sz="1300" b="1" dirty="0">
                          <a:solidFill>
                            <a:srgbClr val="14201A"/>
                          </a:solidFill>
                          <a:latin typeface="Calibri" pitchFamily="34" charset="0"/>
                          <a:ea typeface="Calibri" pitchFamily="34" charset="-122"/>
                          <a:cs typeface="Calibri" pitchFamily="34" charset="-120"/>
                        </a:rPr>
                        <a:t>How we handle it</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solidFill>
                      <a:srgbClr val="E2DEC8"/>
                    </a:solidFill>
                  </a:tcPr>
                </a:tc>
              </a:tr>
              <a:tr h="457200">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Low adoption</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Launch at handover, add green points</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457200">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Contractors prefer skip bins</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Quick batch listing for a whole strip-out</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457200">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Safety of used fixtures</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Condition check and a no-warranty notice</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457200">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Batches too small to collect</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Staging zone and a recycler minimum</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bl>
          </a:graphicData>
        </a:graphic>
      </p:graphicFrame>
      <p:sp>
        <p:nvSpPr>
          <p:cNvPr id="23" name="Text 19"/>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6A6F5E"/>
                </a:solidFill>
                <a:latin typeface="Calibri" pitchFamily="34" charset="0"/>
                <a:ea typeface="Calibri" pitchFamily="34" charset="-122"/>
                <a:cs typeface="Calibri" pitchFamily="34" charset="-120"/>
              </a:rPr>
              <a:t>CircularFit · Planet track</a:t>
            </a:r>
            <a:endParaRPr lang="en-US" sz="1200" dirty="0"/>
          </a:p>
        </p:txBody>
      </p:sp>
      <p:sp>
        <p:nvSpPr>
          <p:cNvPr id="24" name="Text 20"/>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6A6F5E"/>
                </a:solidFill>
                <a:latin typeface="Calibri" pitchFamily="34" charset="0"/>
                <a:ea typeface="Calibri" pitchFamily="34" charset="-122"/>
                <a:cs typeface="Calibri"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E448"/>
                </a:solidFill>
                <a:latin typeface="Calibri" pitchFamily="34" charset="0"/>
                <a:ea typeface="Calibri" pitchFamily="34" charset="-122"/>
                <a:cs typeface="Calibri" pitchFamily="34" charset="-120"/>
              </a:rPr>
              <a:t>8 · IMPLEMENTATION</a:t>
            </a:r>
            <a:endParaRPr lang="en-US" sz="1400" dirty="0"/>
          </a:p>
        </p:txBody>
      </p:sp>
      <p:sp>
        <p:nvSpPr>
          <p:cNvPr id="4" name="Text 1"/>
          <p:cNvSpPr txBox="1"/>
          <p:nvPr/>
        </p:nvSpPr>
        <p:spPr>
          <a:xfrm>
            <a:off x="812800" y="1168400"/>
            <a:ext cx="10566400" cy="635000"/>
          </a:xfrm>
          <a:prstGeom prst="rect">
            <a:avLst/>
          </a:prstGeom>
          <a:noFill/>
          <a:ln/>
        </p:spPr>
        <p:txBody>
          <a:bodyPr wrap="square" lIns="0" tIns="0" rIns="0" bIns="0" rtlCol="0" anchor="t"/>
          <a:lstStyle/>
          <a:p>
            <a:pPr indent="0" marL="0">
              <a:lnSpc>
                <a:spcPct val="95000"/>
              </a:lnSpc>
              <a:buNone/>
            </a:pPr>
            <a:r>
              <a:rPr lang="en-US" sz="4000" b="1" dirty="0">
                <a:solidFill>
                  <a:srgbClr val="FFFCE1"/>
                </a:solidFill>
                <a:latin typeface="Calibri" pitchFamily="34" charset="0"/>
                <a:ea typeface="Calibri" pitchFamily="34" charset="-122"/>
                <a:cs typeface="Calibri" pitchFamily="34" charset="-120"/>
              </a:rPr>
              <a:t>Pilot one handover wave, then scale</a:t>
            </a:r>
            <a:endParaRPr lang="en-US" sz="4000" dirty="0"/>
          </a:p>
        </p:txBody>
      </p:sp>
      <p:sp>
        <p:nvSpPr>
          <p:cNvPr id="5" name="Shape 2"/>
          <p:cNvSpPr/>
          <p:nvPr/>
        </p:nvSpPr>
        <p:spPr>
          <a:xfrm>
            <a:off x="812800" y="1968500"/>
            <a:ext cx="2527300" cy="2540000"/>
          </a:xfrm>
          <a:prstGeom prst="roundRect">
            <a:avLst>
              <a:gd name="adj" fmla="val 6030"/>
            </a:avLst>
          </a:prstGeom>
          <a:solidFill>
            <a:srgbClr val="1A1D1B"/>
          </a:solidFill>
          <a:ln/>
        </p:spPr>
      </p:sp>
      <p:sp>
        <p:nvSpPr>
          <p:cNvPr id="6" name="Shape 3"/>
          <p:cNvSpPr/>
          <p:nvPr/>
        </p:nvSpPr>
        <p:spPr>
          <a:xfrm>
            <a:off x="901700" y="1968500"/>
            <a:ext cx="2349500" cy="50800"/>
          </a:xfrm>
          <a:prstGeom prst="rect">
            <a:avLst/>
          </a:prstGeom>
          <a:solidFill>
            <a:srgbClr val="0AE448"/>
          </a:solidFill>
          <a:ln/>
        </p:spPr>
      </p:sp>
      <p:sp>
        <p:nvSpPr>
          <p:cNvPr id="7" name="Text 4"/>
          <p:cNvSpPr txBox="1"/>
          <p:nvPr/>
        </p:nvSpPr>
        <p:spPr>
          <a:xfrm>
            <a:off x="990600" y="2159000"/>
            <a:ext cx="2222500" cy="190500"/>
          </a:xfrm>
          <a:prstGeom prst="rect">
            <a:avLst/>
          </a:prstGeom>
          <a:noFill/>
          <a:ln/>
        </p:spPr>
        <p:txBody>
          <a:bodyPr wrap="square" lIns="0" tIns="0" rIns="0" bIns="0" rtlCol="0" anchor="t"/>
          <a:lstStyle/>
          <a:p>
            <a:pPr indent="0" marL="0">
              <a:buNone/>
            </a:pPr>
            <a:r>
              <a:rPr lang="en-US" sz="1200" b="1" spc="200" kern="0" dirty="0">
                <a:solidFill>
                  <a:srgbClr val="0AE448"/>
                </a:solidFill>
                <a:latin typeface="Calibri" pitchFamily="34" charset="0"/>
                <a:ea typeface="Calibri" pitchFamily="34" charset="-122"/>
                <a:cs typeface="Calibri" pitchFamily="34" charset="-120"/>
              </a:rPr>
              <a:t>PHASE 0 · WEEKS 0–4</a:t>
            </a:r>
            <a:endParaRPr lang="en-US" sz="1200" dirty="0"/>
          </a:p>
        </p:txBody>
      </p:sp>
      <p:sp>
        <p:nvSpPr>
          <p:cNvPr id="8" name="Text 5"/>
          <p:cNvSpPr txBox="1"/>
          <p:nvPr/>
        </p:nvSpPr>
        <p:spPr>
          <a:xfrm>
            <a:off x="990600" y="2413000"/>
            <a:ext cx="2222500" cy="5715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Agree and baseline</a:t>
            </a:r>
            <a:endParaRPr lang="en-US" sz="1800" dirty="0"/>
          </a:p>
        </p:txBody>
      </p:sp>
      <p:sp>
        <p:nvSpPr>
          <p:cNvPr id="9" name="Text 6"/>
          <p:cNvSpPr txBox="1"/>
          <p:nvPr/>
        </p:nvSpPr>
        <p:spPr>
          <a:xfrm>
            <a:off x="990600" y="3048000"/>
            <a:ext cx="2190750" cy="13335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Pick the pilot precinct</a:t>
            </a:r>
            <a:endParaRPr lang="en-US" sz="1300" dirty="0"/>
          </a:p>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Agree staging space and partners</a:t>
            </a:r>
            <a:endParaRPr lang="en-US" sz="1300" dirty="0"/>
          </a:p>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Measure waste per home today</a:t>
            </a:r>
            <a:endParaRPr lang="en-US" sz="1300" dirty="0"/>
          </a:p>
        </p:txBody>
      </p:sp>
      <p:sp>
        <p:nvSpPr>
          <p:cNvPr id="10" name="Shape 7"/>
          <p:cNvSpPr/>
          <p:nvPr/>
        </p:nvSpPr>
        <p:spPr>
          <a:xfrm>
            <a:off x="3492500" y="1968500"/>
            <a:ext cx="2527300" cy="2540000"/>
          </a:xfrm>
          <a:prstGeom prst="roundRect">
            <a:avLst>
              <a:gd name="adj" fmla="val 6030"/>
            </a:avLst>
          </a:prstGeom>
          <a:solidFill>
            <a:srgbClr val="1A1D1B"/>
          </a:solidFill>
          <a:ln/>
        </p:spPr>
      </p:sp>
      <p:sp>
        <p:nvSpPr>
          <p:cNvPr id="11" name="Shape 8"/>
          <p:cNvSpPr/>
          <p:nvPr/>
        </p:nvSpPr>
        <p:spPr>
          <a:xfrm>
            <a:off x="3581400" y="1968500"/>
            <a:ext cx="2349500" cy="50800"/>
          </a:xfrm>
          <a:prstGeom prst="rect">
            <a:avLst/>
          </a:prstGeom>
          <a:solidFill>
            <a:srgbClr val="00BAE2"/>
          </a:solidFill>
          <a:ln/>
        </p:spPr>
      </p:sp>
      <p:sp>
        <p:nvSpPr>
          <p:cNvPr id="12" name="Text 9"/>
          <p:cNvSpPr txBox="1"/>
          <p:nvPr/>
        </p:nvSpPr>
        <p:spPr>
          <a:xfrm>
            <a:off x="3670300" y="2159000"/>
            <a:ext cx="2222500" cy="190500"/>
          </a:xfrm>
          <a:prstGeom prst="rect">
            <a:avLst/>
          </a:prstGeom>
          <a:noFill/>
          <a:ln/>
        </p:spPr>
        <p:txBody>
          <a:bodyPr wrap="square" lIns="0" tIns="0" rIns="0" bIns="0" rtlCol="0" anchor="t"/>
          <a:lstStyle/>
          <a:p>
            <a:pPr indent="0" marL="0">
              <a:buNone/>
            </a:pPr>
            <a:r>
              <a:rPr lang="en-US" sz="1200" b="1" spc="200" kern="0" dirty="0">
                <a:solidFill>
                  <a:srgbClr val="00BAE2"/>
                </a:solidFill>
                <a:latin typeface="Calibri" pitchFamily="34" charset="0"/>
                <a:ea typeface="Calibri" pitchFamily="34" charset="-122"/>
                <a:cs typeface="Calibri" pitchFamily="34" charset="-120"/>
              </a:rPr>
              <a:t>PHASE 1 · WEEKS 5–16</a:t>
            </a:r>
            <a:endParaRPr lang="en-US" sz="1200" dirty="0"/>
          </a:p>
        </p:txBody>
      </p:sp>
      <p:sp>
        <p:nvSpPr>
          <p:cNvPr id="13" name="Text 10"/>
          <p:cNvSpPr txBox="1"/>
          <p:nvPr/>
        </p:nvSpPr>
        <p:spPr>
          <a:xfrm>
            <a:off x="3670300" y="2413000"/>
            <a:ext cx="2222500" cy="5715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Run one wave</a:t>
            </a:r>
            <a:endParaRPr lang="en-US" sz="1800" dirty="0"/>
          </a:p>
        </p:txBody>
      </p:sp>
      <p:sp>
        <p:nvSpPr>
          <p:cNvPr id="14" name="Text 11"/>
          <p:cNvSpPr txBox="1"/>
          <p:nvPr/>
        </p:nvSpPr>
        <p:spPr>
          <a:xfrm>
            <a:off x="3670300" y="3048000"/>
            <a:ext cx="2190750" cy="13335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Resident and admin roles live</a:t>
            </a:r>
            <a:endParaRPr lang="en-US" sz="1300" dirty="0"/>
          </a:p>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Track tonnes, bins and carbon</a:t>
            </a:r>
            <a:endParaRPr lang="en-US" sz="1300" dirty="0"/>
          </a:p>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Tune routing rules and rewards</a:t>
            </a:r>
            <a:endParaRPr lang="en-US" sz="1300" dirty="0"/>
          </a:p>
        </p:txBody>
      </p:sp>
      <p:sp>
        <p:nvSpPr>
          <p:cNvPr id="15" name="Shape 12"/>
          <p:cNvSpPr/>
          <p:nvPr/>
        </p:nvSpPr>
        <p:spPr>
          <a:xfrm>
            <a:off x="6172200" y="1968500"/>
            <a:ext cx="2527300" cy="2540000"/>
          </a:xfrm>
          <a:prstGeom prst="roundRect">
            <a:avLst>
              <a:gd name="adj" fmla="val 6030"/>
            </a:avLst>
          </a:prstGeom>
          <a:solidFill>
            <a:srgbClr val="1A1D1B"/>
          </a:solidFill>
          <a:ln/>
        </p:spPr>
      </p:sp>
      <p:sp>
        <p:nvSpPr>
          <p:cNvPr id="16" name="Shape 13"/>
          <p:cNvSpPr/>
          <p:nvPr/>
        </p:nvSpPr>
        <p:spPr>
          <a:xfrm>
            <a:off x="6261100" y="1968500"/>
            <a:ext cx="2349500" cy="50800"/>
          </a:xfrm>
          <a:prstGeom prst="rect">
            <a:avLst/>
          </a:prstGeom>
          <a:solidFill>
            <a:srgbClr val="9D95FF"/>
          </a:solidFill>
          <a:ln/>
        </p:spPr>
      </p:sp>
      <p:sp>
        <p:nvSpPr>
          <p:cNvPr id="17" name="Text 14"/>
          <p:cNvSpPr txBox="1"/>
          <p:nvPr/>
        </p:nvSpPr>
        <p:spPr>
          <a:xfrm>
            <a:off x="6350000" y="2159000"/>
            <a:ext cx="2222500" cy="190500"/>
          </a:xfrm>
          <a:prstGeom prst="rect">
            <a:avLst/>
          </a:prstGeom>
          <a:noFill/>
          <a:ln/>
        </p:spPr>
        <p:txBody>
          <a:bodyPr wrap="square" lIns="0" tIns="0" rIns="0" bIns="0" rtlCol="0" anchor="t"/>
          <a:lstStyle/>
          <a:p>
            <a:pPr indent="0" marL="0">
              <a:buNone/>
            </a:pPr>
            <a:r>
              <a:rPr lang="en-US" sz="1200" b="1" spc="200" kern="0" dirty="0">
                <a:solidFill>
                  <a:srgbClr val="9D95FF"/>
                </a:solidFill>
                <a:latin typeface="Calibri" pitchFamily="34" charset="0"/>
                <a:ea typeface="Calibri" pitchFamily="34" charset="-122"/>
                <a:cs typeface="Calibri" pitchFamily="34" charset="-120"/>
              </a:rPr>
              <a:t>PHASE 2 · NEXT</a:t>
            </a:r>
            <a:endParaRPr lang="en-US" sz="1200" dirty="0"/>
          </a:p>
        </p:txBody>
      </p:sp>
      <p:sp>
        <p:nvSpPr>
          <p:cNvPr id="18" name="Text 15"/>
          <p:cNvSpPr txBox="1"/>
          <p:nvPr/>
        </p:nvSpPr>
        <p:spPr>
          <a:xfrm>
            <a:off x="6350000" y="2413000"/>
            <a:ext cx="2222500" cy="5715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Township rollout</a:t>
            </a:r>
            <a:endParaRPr lang="en-US" sz="1800" dirty="0"/>
          </a:p>
        </p:txBody>
      </p:sp>
      <p:sp>
        <p:nvSpPr>
          <p:cNvPr id="19" name="Text 16"/>
          <p:cNvSpPr txBox="1"/>
          <p:nvPr/>
        </p:nvSpPr>
        <p:spPr>
          <a:xfrm>
            <a:off x="6350000" y="3048000"/>
            <a:ext cx="2190750" cy="13335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Real sign-in from handover records</a:t>
            </a:r>
            <a:endParaRPr lang="en-US" sz="1300" dirty="0"/>
          </a:p>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Reminders and QR check-in</a:t>
            </a:r>
            <a:endParaRPr lang="en-US" sz="1300" dirty="0"/>
          </a:p>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Regular partner pickups</a:t>
            </a:r>
            <a:endParaRPr lang="en-US" sz="1300" dirty="0"/>
          </a:p>
        </p:txBody>
      </p:sp>
      <p:sp>
        <p:nvSpPr>
          <p:cNvPr id="20" name="Shape 17"/>
          <p:cNvSpPr/>
          <p:nvPr/>
        </p:nvSpPr>
        <p:spPr>
          <a:xfrm>
            <a:off x="8851900" y="1968500"/>
            <a:ext cx="2527300" cy="2540000"/>
          </a:xfrm>
          <a:prstGeom prst="roundRect">
            <a:avLst>
              <a:gd name="adj" fmla="val 6030"/>
            </a:avLst>
          </a:prstGeom>
          <a:solidFill>
            <a:srgbClr val="1A1D1B"/>
          </a:solidFill>
          <a:ln/>
        </p:spPr>
      </p:sp>
      <p:sp>
        <p:nvSpPr>
          <p:cNvPr id="21" name="Shape 18"/>
          <p:cNvSpPr/>
          <p:nvPr/>
        </p:nvSpPr>
        <p:spPr>
          <a:xfrm>
            <a:off x="8940800" y="1968500"/>
            <a:ext cx="2349500" cy="50800"/>
          </a:xfrm>
          <a:prstGeom prst="rect">
            <a:avLst/>
          </a:prstGeom>
          <a:solidFill>
            <a:srgbClr val="FF8709"/>
          </a:solidFill>
          <a:ln/>
        </p:spPr>
      </p:sp>
      <p:sp>
        <p:nvSpPr>
          <p:cNvPr id="22" name="Text 19"/>
          <p:cNvSpPr txBox="1"/>
          <p:nvPr/>
        </p:nvSpPr>
        <p:spPr>
          <a:xfrm>
            <a:off x="9029700" y="2159000"/>
            <a:ext cx="2222500" cy="190500"/>
          </a:xfrm>
          <a:prstGeom prst="rect">
            <a:avLst/>
          </a:prstGeom>
          <a:noFill/>
          <a:ln/>
        </p:spPr>
        <p:txBody>
          <a:bodyPr wrap="square" lIns="0" tIns="0" rIns="0" bIns="0" rtlCol="0" anchor="t"/>
          <a:lstStyle/>
          <a:p>
            <a:pPr indent="0" marL="0">
              <a:buNone/>
            </a:pPr>
            <a:r>
              <a:rPr lang="en-US" sz="1200" b="1" spc="200" kern="0" dirty="0">
                <a:solidFill>
                  <a:srgbClr val="FF8709"/>
                </a:solidFill>
                <a:latin typeface="Calibri" pitchFamily="34" charset="0"/>
                <a:ea typeface="Calibri" pitchFamily="34" charset="-122"/>
                <a:cs typeface="Calibri" pitchFamily="34" charset="-120"/>
              </a:rPr>
              <a:t>PHASE 3 · LATER</a:t>
            </a:r>
            <a:endParaRPr lang="en-US" sz="1200" dirty="0"/>
          </a:p>
        </p:txBody>
      </p:sp>
      <p:sp>
        <p:nvSpPr>
          <p:cNvPr id="23" name="Text 20"/>
          <p:cNvSpPr txBox="1"/>
          <p:nvPr/>
        </p:nvSpPr>
        <p:spPr>
          <a:xfrm>
            <a:off x="9029700" y="2413000"/>
            <a:ext cx="2222500" cy="571500"/>
          </a:xfrm>
          <a:prstGeom prst="rect">
            <a:avLst/>
          </a:prstGeom>
          <a:noFill/>
          <a:ln/>
        </p:spPr>
        <p:txBody>
          <a:bodyPr wrap="square" lIns="0" tIns="0" rIns="0" bIns="0" rtlCol="0" anchor="t"/>
          <a:lstStyle/>
          <a:p>
            <a:pPr indent="0" marL="0">
              <a:buNone/>
            </a:pPr>
            <a:r>
              <a:rPr lang="en-US" sz="1800" b="1" dirty="0">
                <a:solidFill>
                  <a:srgbClr val="FFFCE1"/>
                </a:solidFill>
                <a:latin typeface="Calibri" pitchFamily="34" charset="0"/>
                <a:ea typeface="Calibri" pitchFamily="34" charset="-122"/>
                <a:cs typeface="Calibri" pitchFamily="34" charset="-120"/>
              </a:rPr>
              <a:t>Beyond one township</a:t>
            </a:r>
            <a:endParaRPr lang="en-US" sz="1800" dirty="0"/>
          </a:p>
        </p:txBody>
      </p:sp>
      <p:sp>
        <p:nvSpPr>
          <p:cNvPr id="24" name="Text 21"/>
          <p:cNvSpPr txBox="1"/>
          <p:nvPr/>
        </p:nvSpPr>
        <p:spPr>
          <a:xfrm>
            <a:off x="9029700" y="3048000"/>
            <a:ext cx="2190750" cy="13335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Other developers</a:t>
            </a:r>
            <a:endParaRPr lang="en-US" sz="1300" dirty="0"/>
          </a:p>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Townships across Malaysia</a:t>
            </a:r>
            <a:endParaRPr lang="en-US" sz="1300" dirty="0"/>
          </a:p>
          <a:p>
            <a:pPr marL="342900" indent="-342900">
              <a:spcAft>
                <a:spcPts val="600"/>
              </a:spcAft>
              <a:buSzPct val="100000"/>
              <a:buChar char="•"/>
            </a:pPr>
            <a:r>
              <a:rPr lang="en-US" sz="1300" dirty="0">
                <a:solidFill>
                  <a:srgbClr val="BBBAA6"/>
                </a:solidFill>
                <a:latin typeface="Calibri" pitchFamily="34" charset="0"/>
                <a:ea typeface="Calibri" pitchFamily="34" charset="-122"/>
                <a:cs typeface="Calibri" pitchFamily="34" charset="-120"/>
              </a:rPr>
              <a:t>A shared partner network</a:t>
            </a:r>
            <a:endParaRPr lang="en-US" sz="1300" dirty="0"/>
          </a:p>
        </p:txBody>
      </p:sp>
      <p:sp>
        <p:nvSpPr>
          <p:cNvPr id="25" name="Shape 22"/>
          <p:cNvSpPr/>
          <p:nvPr/>
        </p:nvSpPr>
        <p:spPr>
          <a:xfrm>
            <a:off x="812800" y="4699000"/>
            <a:ext cx="2527300" cy="571500"/>
          </a:xfrm>
          <a:prstGeom prst="roundRect">
            <a:avLst>
              <a:gd name="adj" fmla="val 22222"/>
            </a:avLst>
          </a:prstGeom>
          <a:solidFill>
            <a:srgbClr val="1A1D1B"/>
          </a:solidFill>
          <a:ln w="9525">
            <a:solidFill>
              <a:srgbClr val="2F3330"/>
            </a:solidFill>
            <a:prstDash val="solid"/>
          </a:ln>
        </p:spPr>
      </p:sp>
      <p:sp>
        <p:nvSpPr>
          <p:cNvPr id="26" name="Text 23"/>
          <p:cNvSpPr txBox="1"/>
          <p:nvPr/>
        </p:nvSpPr>
        <p:spPr>
          <a:xfrm>
            <a:off x="965200" y="4699000"/>
            <a:ext cx="2222500" cy="571500"/>
          </a:xfrm>
          <a:prstGeom prst="rect">
            <a:avLst/>
          </a:prstGeom>
          <a:noFill/>
          <a:ln/>
        </p:spPr>
        <p:txBody>
          <a:bodyPr wrap="square" lIns="0" tIns="0" rIns="0" bIns="0" rtlCol="0" anchor="ctr"/>
          <a:lstStyle/>
          <a:p>
            <a:pPr indent="0" marL="0">
              <a:buNone/>
            </a:pPr>
            <a:r>
              <a:rPr lang="en-US" sz="1300" b="1" dirty="0">
                <a:solidFill>
                  <a:srgbClr val="0AE448"/>
                </a:solidFill>
                <a:latin typeface="Calibri" pitchFamily="34" charset="0"/>
                <a:ea typeface="Calibri" pitchFamily="34" charset="-122"/>
                <a:cs typeface="Calibri" pitchFamily="34" charset="-120"/>
              </a:rPr>
              <a:t>Developer:</a:t>
            </a:r>
            <a:pPr indent="0" marL="0">
              <a:buNone/>
            </a:pPr>
            <a:r>
              <a:rPr lang="en-US" sz="1300" dirty="0">
                <a:solidFill>
                  <a:srgbClr val="FFFCE1"/>
                </a:solidFill>
                <a:latin typeface="Calibri" pitchFamily="34" charset="0"/>
                <a:ea typeface="Calibri" pitchFamily="34" charset="-122"/>
                <a:cs typeface="Calibri" pitchFamily="34" charset="-120"/>
              </a:rPr>
              <a:t> sponsor, staging space</a:t>
            </a:r>
            <a:endParaRPr lang="en-US" sz="1300" dirty="0"/>
          </a:p>
        </p:txBody>
      </p:sp>
      <p:sp>
        <p:nvSpPr>
          <p:cNvPr id="27" name="Shape 24"/>
          <p:cNvSpPr/>
          <p:nvPr/>
        </p:nvSpPr>
        <p:spPr>
          <a:xfrm>
            <a:off x="3492500" y="4699000"/>
            <a:ext cx="2527300" cy="571500"/>
          </a:xfrm>
          <a:prstGeom prst="roundRect">
            <a:avLst>
              <a:gd name="adj" fmla="val 22222"/>
            </a:avLst>
          </a:prstGeom>
          <a:solidFill>
            <a:srgbClr val="1A1D1B"/>
          </a:solidFill>
          <a:ln w="9525">
            <a:solidFill>
              <a:srgbClr val="2F3330"/>
            </a:solidFill>
            <a:prstDash val="solid"/>
          </a:ln>
        </p:spPr>
      </p:sp>
      <p:sp>
        <p:nvSpPr>
          <p:cNvPr id="28" name="Text 25"/>
          <p:cNvSpPr txBox="1"/>
          <p:nvPr/>
        </p:nvSpPr>
        <p:spPr>
          <a:xfrm>
            <a:off x="3644900" y="4699000"/>
            <a:ext cx="2222500" cy="571500"/>
          </a:xfrm>
          <a:prstGeom prst="rect">
            <a:avLst/>
          </a:prstGeom>
          <a:noFill/>
          <a:ln/>
        </p:spPr>
        <p:txBody>
          <a:bodyPr wrap="square" lIns="0" tIns="0" rIns="0" bIns="0" rtlCol="0" anchor="ctr"/>
          <a:lstStyle/>
          <a:p>
            <a:pPr indent="0" marL="0">
              <a:buNone/>
            </a:pPr>
            <a:r>
              <a:rPr lang="en-US" sz="1300" b="1" dirty="0">
                <a:solidFill>
                  <a:srgbClr val="00BAE2"/>
                </a:solidFill>
                <a:latin typeface="Calibri" pitchFamily="34" charset="0"/>
                <a:ea typeface="Calibri" pitchFamily="34" charset="-122"/>
                <a:cs typeface="Calibri" pitchFamily="34" charset="-120"/>
              </a:rPr>
              <a:t>JMB:</a:t>
            </a:r>
            <a:pPr indent="0" marL="0">
              <a:buNone/>
            </a:pPr>
            <a:r>
              <a:rPr lang="en-US" sz="1300" dirty="0">
                <a:solidFill>
                  <a:srgbClr val="FFFCE1"/>
                </a:solidFill>
                <a:latin typeface="Calibri" pitchFamily="34" charset="0"/>
                <a:ea typeface="Calibri" pitchFamily="34" charset="-122"/>
                <a:cs typeface="Calibri" pitchFamily="34" charset="-120"/>
              </a:rPr>
              <a:t> resident access</a:t>
            </a:r>
            <a:endParaRPr lang="en-US" sz="1300" dirty="0"/>
          </a:p>
        </p:txBody>
      </p:sp>
      <p:sp>
        <p:nvSpPr>
          <p:cNvPr id="29" name="Shape 26"/>
          <p:cNvSpPr/>
          <p:nvPr/>
        </p:nvSpPr>
        <p:spPr>
          <a:xfrm>
            <a:off x="6172200" y="4699000"/>
            <a:ext cx="2527300" cy="571500"/>
          </a:xfrm>
          <a:prstGeom prst="roundRect">
            <a:avLst>
              <a:gd name="adj" fmla="val 22222"/>
            </a:avLst>
          </a:prstGeom>
          <a:solidFill>
            <a:srgbClr val="1A1D1B"/>
          </a:solidFill>
          <a:ln w="9525">
            <a:solidFill>
              <a:srgbClr val="2F3330"/>
            </a:solidFill>
            <a:prstDash val="solid"/>
          </a:ln>
        </p:spPr>
      </p:sp>
      <p:sp>
        <p:nvSpPr>
          <p:cNvPr id="30" name="Text 27"/>
          <p:cNvSpPr txBox="1"/>
          <p:nvPr/>
        </p:nvSpPr>
        <p:spPr>
          <a:xfrm>
            <a:off x="6324600" y="4699000"/>
            <a:ext cx="2222500" cy="571500"/>
          </a:xfrm>
          <a:prstGeom prst="rect">
            <a:avLst/>
          </a:prstGeom>
          <a:noFill/>
          <a:ln/>
        </p:spPr>
        <p:txBody>
          <a:bodyPr wrap="square" lIns="0" tIns="0" rIns="0" bIns="0" rtlCol="0" anchor="ctr"/>
          <a:lstStyle/>
          <a:p>
            <a:pPr indent="0" marL="0">
              <a:buNone/>
            </a:pPr>
            <a:r>
              <a:rPr lang="en-US" sz="1300" b="1" dirty="0">
                <a:solidFill>
                  <a:srgbClr val="9D95FF"/>
                </a:solidFill>
                <a:latin typeface="Calibri" pitchFamily="34" charset="0"/>
                <a:ea typeface="Calibri" pitchFamily="34" charset="-122"/>
                <a:cs typeface="Calibri" pitchFamily="34" charset="-120"/>
              </a:rPr>
              <a:t>Partners:</a:t>
            </a:r>
            <a:pPr indent="0" marL="0">
              <a:buNone/>
            </a:pPr>
            <a:r>
              <a:rPr lang="en-US" sz="1300" dirty="0">
                <a:solidFill>
                  <a:srgbClr val="FFFCE1"/>
                </a:solidFill>
                <a:latin typeface="Calibri" pitchFamily="34" charset="0"/>
                <a:ea typeface="Calibri" pitchFamily="34" charset="-122"/>
                <a:cs typeface="Calibri" pitchFamily="34" charset="-120"/>
              </a:rPr>
              <a:t> collection</a:t>
            </a:r>
            <a:endParaRPr lang="en-US" sz="1300" dirty="0"/>
          </a:p>
        </p:txBody>
      </p:sp>
      <p:sp>
        <p:nvSpPr>
          <p:cNvPr id="31" name="Shape 28"/>
          <p:cNvSpPr/>
          <p:nvPr/>
        </p:nvSpPr>
        <p:spPr>
          <a:xfrm>
            <a:off x="8851900" y="4699000"/>
            <a:ext cx="2527300" cy="571500"/>
          </a:xfrm>
          <a:prstGeom prst="roundRect">
            <a:avLst>
              <a:gd name="adj" fmla="val 22222"/>
            </a:avLst>
          </a:prstGeom>
          <a:solidFill>
            <a:srgbClr val="1A1D1B"/>
          </a:solidFill>
          <a:ln w="9525">
            <a:solidFill>
              <a:srgbClr val="2F3330"/>
            </a:solidFill>
            <a:prstDash val="solid"/>
          </a:ln>
        </p:spPr>
      </p:sp>
      <p:sp>
        <p:nvSpPr>
          <p:cNvPr id="32" name="Text 29"/>
          <p:cNvSpPr txBox="1"/>
          <p:nvPr/>
        </p:nvSpPr>
        <p:spPr>
          <a:xfrm>
            <a:off x="9004300" y="4699000"/>
            <a:ext cx="2222500" cy="571500"/>
          </a:xfrm>
          <a:prstGeom prst="rect">
            <a:avLst/>
          </a:prstGeom>
          <a:noFill/>
          <a:ln/>
        </p:spPr>
        <p:txBody>
          <a:bodyPr wrap="square" lIns="0" tIns="0" rIns="0" bIns="0" rtlCol="0" anchor="ctr"/>
          <a:lstStyle/>
          <a:p>
            <a:pPr indent="0" marL="0">
              <a:buNone/>
            </a:pPr>
            <a:r>
              <a:rPr lang="en-US" sz="1300" b="1" dirty="0">
                <a:solidFill>
                  <a:srgbClr val="FF8709"/>
                </a:solidFill>
                <a:latin typeface="Calibri" pitchFamily="34" charset="0"/>
                <a:ea typeface="Calibri" pitchFamily="34" charset="-122"/>
                <a:cs typeface="Calibri" pitchFamily="34" charset="-120"/>
              </a:rPr>
              <a:t>Admin:</a:t>
            </a:r>
            <a:pPr indent="0" marL="0">
              <a:buNone/>
            </a:pPr>
            <a:r>
              <a:rPr lang="en-US" sz="1300" dirty="0">
                <a:solidFill>
                  <a:srgbClr val="FFFCE1"/>
                </a:solidFill>
                <a:latin typeface="Calibri" pitchFamily="34" charset="0"/>
                <a:ea typeface="Calibri" pitchFamily="34" charset="-122"/>
                <a:cs typeface="Calibri" pitchFamily="34" charset="-120"/>
              </a:rPr>
              <a:t> daily operation</a:t>
            </a:r>
            <a:endParaRPr lang="en-US" sz="1300" dirty="0"/>
          </a:p>
        </p:txBody>
      </p:sp>
      <p:sp>
        <p:nvSpPr>
          <p:cNvPr id="33" name="Text 30"/>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8A8A78"/>
                </a:solidFill>
                <a:latin typeface="Calibri" pitchFamily="34" charset="0"/>
                <a:ea typeface="Calibri" pitchFamily="34" charset="-122"/>
                <a:cs typeface="Calibri" pitchFamily="34" charset="-120"/>
              </a:rPr>
              <a:t>Timeline is a proposal for discussion with the developer</a:t>
            </a:r>
            <a:endParaRPr lang="en-US" sz="1200" dirty="0"/>
          </a:p>
        </p:txBody>
      </p:sp>
      <p:sp>
        <p:nvSpPr>
          <p:cNvPr id="34" name="Text 31"/>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8A8A78"/>
                </a:solidFill>
                <a:latin typeface="Calibri" pitchFamily="34" charset="0"/>
                <a:ea typeface="Calibri" pitchFamily="34" charset="-122"/>
                <a:cs typeface="Calibri"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C:\Users\User\AppData\Local\Temp\claude\D--Claude-hackathon-sime-darby-circular-fit\e6dfe292-c359-452d-a677-778295337ec0\scratchpad\pptx\assets\ring.png">    </p:cNvPr>
          <p:cNvPicPr>
            <a:picLocks noChangeAspect="1"/>
          </p:cNvPicPr>
          <p:nvPr/>
        </p:nvPicPr>
        <p:blipFill>
          <a:blip r:embed="rId1"/>
          <a:stretch>
            <a:fillRect/>
          </a:stretch>
        </p:blipFill>
        <p:spPr>
          <a:xfrm>
            <a:off x="8458200" y="952500"/>
            <a:ext cx="2286000" cy="2286000"/>
          </a:xfrm>
          <a:prstGeom prst="rect">
            <a:avLst/>
          </a:prstGeom>
        </p:spPr>
      </p:pic>
      <p:sp>
        <p:nvSpPr>
          <p:cNvPr id="4"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E448"/>
                </a:solidFill>
                <a:latin typeface="Calibri" pitchFamily="34" charset="0"/>
                <a:ea typeface="Calibri" pitchFamily="34" charset="-122"/>
                <a:cs typeface="Calibri" pitchFamily="34" charset="-120"/>
              </a:rPr>
              <a:t>WHY OUR TEAM SHOULD WIN</a:t>
            </a:r>
            <a:endParaRPr lang="en-US" sz="1400" dirty="0"/>
          </a:p>
        </p:txBody>
      </p:sp>
      <p:sp>
        <p:nvSpPr>
          <p:cNvPr id="5" name="Text 1"/>
          <p:cNvSpPr txBox="1"/>
          <p:nvPr/>
        </p:nvSpPr>
        <p:spPr>
          <a:xfrm>
            <a:off x="812800" y="1206500"/>
            <a:ext cx="7112000" cy="4445000"/>
          </a:xfrm>
          <a:prstGeom prst="rect">
            <a:avLst/>
          </a:prstGeom>
          <a:noFill/>
          <a:ln/>
        </p:spPr>
        <p:txBody>
          <a:bodyPr wrap="square" lIns="0" tIns="0" rIns="0" bIns="0" rtlCol="0" anchor="t"/>
          <a:lstStyle/>
          <a:p>
            <a:pPr indent="0" marL="0">
              <a:lnSpc>
                <a:spcPct val="115000"/>
              </a:lnSpc>
              <a:buNone/>
            </a:pPr>
            <a:r>
              <a:rPr lang="en-US" sz="2000" dirty="0">
                <a:solidFill>
                  <a:srgbClr val="FFFCE1"/>
                </a:solidFill>
                <a:latin typeface="Calibri" pitchFamily="34" charset="0"/>
                <a:ea typeface="Calibri" pitchFamily="34" charset="-122"/>
                <a:cs typeface="Calibri" pitchFamily="34" charset="-120"/>
              </a:rPr>
              <a:t>CircularFit turns the handover renovation rush into a measurable circular-economy programme. Instead of another marketplace, it routes every strip-out item up the waste hierarchy, to a neighbour, a salvage partner or a recycler, before landfill. Residents log and agree in minutes. Township management gets a handover planner, a routing console and an auditable ledger of tonnes, skip bins and carbon avoided. It is built on Sime Darby Property’s own handover moment, scales to any Malaysian township, and our working prototype already runs the full loop.</a:t>
            </a:r>
            <a:endParaRPr lang="en-US" sz="2000" dirty="0"/>
          </a:p>
        </p:txBody>
      </p:sp>
      <p:sp>
        <p:nvSpPr>
          <p:cNvPr id="6" name="Text 2"/>
          <p:cNvSpPr txBox="1"/>
          <p:nvPr/>
        </p:nvSpPr>
        <p:spPr>
          <a:xfrm>
            <a:off x="8458200" y="3556000"/>
            <a:ext cx="3175000" cy="635000"/>
          </a:xfrm>
          <a:prstGeom prst="rect">
            <a:avLst/>
          </a:prstGeom>
          <a:noFill/>
          <a:ln/>
        </p:spPr>
        <p:txBody>
          <a:bodyPr wrap="square" lIns="0" tIns="0" rIns="0" bIns="0" rtlCol="0" anchor="t"/>
          <a:lstStyle/>
          <a:p>
            <a:pPr indent="0" marL="0">
              <a:buNone/>
            </a:pPr>
            <a:r>
              <a:rPr lang="en-US" sz="4200" b="1" dirty="0">
                <a:solidFill>
                  <a:srgbClr val="FFFCE1"/>
                </a:solidFill>
                <a:latin typeface="Calibri" pitchFamily="34" charset="0"/>
                <a:ea typeface="Calibri" pitchFamily="34" charset="-122"/>
                <a:cs typeface="Calibri" pitchFamily="34" charset="-120"/>
              </a:rPr>
              <a:t>Thank you</a:t>
            </a:r>
            <a:endParaRPr lang="en-US" sz="4200" dirty="0"/>
          </a:p>
        </p:txBody>
      </p:sp>
      <p:sp>
        <p:nvSpPr>
          <p:cNvPr id="7" name="Text 3"/>
          <p:cNvSpPr txBox="1"/>
          <p:nvPr/>
        </p:nvSpPr>
        <p:spPr>
          <a:xfrm>
            <a:off x="8458200" y="4318000"/>
            <a:ext cx="2921000" cy="571500"/>
          </a:xfrm>
          <a:prstGeom prst="rect">
            <a:avLst/>
          </a:prstGeom>
          <a:noFill/>
          <a:ln/>
        </p:spPr>
        <p:txBody>
          <a:bodyPr wrap="square" lIns="0" tIns="0" rIns="0" bIns="0" rtlCol="0" anchor="t"/>
          <a:lstStyle/>
          <a:p>
            <a:pPr indent="0" marL="0">
              <a:buNone/>
            </a:pPr>
            <a:r>
              <a:rPr lang="en-US" sz="1400" dirty="0">
                <a:solidFill>
                  <a:srgbClr val="ABFF84"/>
                </a:solidFill>
                <a:latin typeface="Calibri" pitchFamily="34" charset="0"/>
                <a:ea typeface="Calibri" pitchFamily="34" charset="-122"/>
                <a:cs typeface="Calibri" pitchFamily="34" charset="-120"/>
              </a:rPr>
              <a:t>[Team name]</a:t>
            </a:r>
            <a:endParaRPr lang="en-US" sz="1400" dirty="0"/>
          </a:p>
          <a:p>
            <a:pPr indent="0" marL="0">
              <a:buNone/>
            </a:pPr>
            <a:r>
              <a:rPr lang="en-US" sz="1400" dirty="0">
                <a:solidFill>
                  <a:srgbClr val="ABFF84"/>
                </a:solidFill>
                <a:latin typeface="Calibri" pitchFamily="34" charset="0"/>
                <a:ea typeface="Calibri" pitchFamily="34" charset="-122"/>
                <a:cs typeface="Calibri" pitchFamily="34" charset="-120"/>
              </a:rPr>
              <a:t>[Email · phone]</a:t>
            </a:r>
            <a:endParaRPr lang="en-US" sz="1400" dirty="0"/>
          </a:p>
        </p:txBody>
      </p:sp>
      <p:sp>
        <p:nvSpPr>
          <p:cNvPr id="8" name="Text 4"/>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8A8A78"/>
                </a:solidFill>
                <a:latin typeface="Calibri" pitchFamily="34" charset="0"/>
                <a:ea typeface="Calibri" pitchFamily="34" charset="-122"/>
                <a:cs typeface="Calibri" pitchFamily="34" charset="-120"/>
              </a:rPr>
              <a:t>CircularFit · Planet track</a:t>
            </a:r>
            <a:endParaRPr lang="en-US" sz="1200" dirty="0"/>
          </a:p>
        </p:txBody>
      </p:sp>
      <p:sp>
        <p:nvSpPr>
          <p:cNvPr id="9" name="Text 5"/>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8A8A78"/>
                </a:solidFill>
                <a:latin typeface="Calibri" pitchFamily="34" charset="0"/>
                <a:ea typeface="Calibri" pitchFamily="34" charset="-122"/>
                <a:cs typeface="Calibri" pitchFamily="34" charset="-120"/>
              </a:rPr>
              <a:t>10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6B28"/>
                </a:solidFill>
                <a:latin typeface="Calibri" pitchFamily="34" charset="0"/>
                <a:ea typeface="Calibri" pitchFamily="34" charset="-122"/>
                <a:cs typeface="Calibri" pitchFamily="34" charset="-120"/>
              </a:rPr>
              <a:t>APPENDIX A1 · VISUAL CONCEPT</a:t>
            </a:r>
            <a:endParaRPr lang="en-US" sz="1400" dirty="0"/>
          </a:p>
        </p:txBody>
      </p:sp>
      <p:sp>
        <p:nvSpPr>
          <p:cNvPr id="4" name="Text 1"/>
          <p:cNvSpPr txBox="1"/>
          <p:nvPr/>
        </p:nvSpPr>
        <p:spPr>
          <a:xfrm>
            <a:off x="812800" y="1168400"/>
            <a:ext cx="10566400" cy="635000"/>
          </a:xfrm>
          <a:prstGeom prst="rect">
            <a:avLst/>
          </a:prstGeom>
          <a:noFill/>
          <a:ln/>
        </p:spPr>
        <p:txBody>
          <a:bodyPr wrap="square" lIns="0" tIns="0" rIns="0" bIns="0" rtlCol="0" anchor="t"/>
          <a:lstStyle/>
          <a:p>
            <a:pPr indent="0" marL="0">
              <a:lnSpc>
                <a:spcPct val="95000"/>
              </a:lnSpc>
              <a:buNone/>
            </a:pPr>
            <a:r>
              <a:rPr lang="en-US" sz="4200" b="1" dirty="0">
                <a:solidFill>
                  <a:srgbClr val="14201A"/>
                </a:solidFill>
                <a:latin typeface="Calibri" pitchFamily="34" charset="0"/>
                <a:ea typeface="Calibri" pitchFamily="34" charset="-122"/>
                <a:cs typeface="Calibri" pitchFamily="34" charset="-120"/>
              </a:rPr>
              <a:t>Inside the prototype</a:t>
            </a:r>
            <a:endParaRPr lang="en-US" sz="4200" dirty="0"/>
          </a:p>
        </p:txBody>
      </p:sp>
      <p:pic>
        <p:nvPicPr>
          <p:cNvPr id="5" name="Image 0" descr="Admin routing console">    </p:cNvPr>
          <p:cNvPicPr>
            <a:picLocks noChangeAspect="1"/>
          </p:cNvPicPr>
          <p:nvPr/>
        </p:nvPicPr>
        <p:blipFill>
          <a:blip r:embed="rId1"/>
          <a:stretch>
            <a:fillRect/>
          </a:stretch>
        </p:blipFill>
        <p:spPr>
          <a:xfrm>
            <a:off x="812800" y="2095500"/>
            <a:ext cx="3352800" cy="2159000"/>
          </a:xfrm>
          <a:prstGeom prst="rect">
            <a:avLst/>
          </a:prstGeom>
        </p:spPr>
      </p:pic>
      <p:sp>
        <p:nvSpPr>
          <p:cNvPr id="6" name="Text 2"/>
          <p:cNvSpPr txBox="1"/>
          <p:nvPr/>
        </p:nvSpPr>
        <p:spPr>
          <a:xfrm>
            <a:off x="812800" y="4381500"/>
            <a:ext cx="3352800" cy="317500"/>
          </a:xfrm>
          <a:prstGeom prst="rect">
            <a:avLst/>
          </a:prstGeom>
          <a:noFill/>
          <a:ln/>
        </p:spPr>
        <p:txBody>
          <a:bodyPr wrap="square" lIns="0" tIns="0" rIns="0" bIns="0" rtlCol="0" anchor="t"/>
          <a:lstStyle/>
          <a:p>
            <a:pPr indent="0" marL="0">
              <a:buNone/>
            </a:pPr>
            <a:r>
              <a:rPr lang="en-US" sz="1800" b="1" dirty="0">
                <a:solidFill>
                  <a:srgbClr val="14201A"/>
                </a:solidFill>
                <a:latin typeface="Calibri" pitchFamily="34" charset="0"/>
                <a:ea typeface="Calibri" pitchFamily="34" charset="-122"/>
                <a:cs typeface="Calibri" pitchFamily="34" charset="-120"/>
              </a:rPr>
              <a:t>Routing console</a:t>
            </a:r>
            <a:endParaRPr lang="en-US" sz="1800" dirty="0"/>
          </a:p>
        </p:txBody>
      </p:sp>
      <p:sp>
        <p:nvSpPr>
          <p:cNvPr id="7" name="Text 3"/>
          <p:cNvSpPr txBox="1"/>
          <p:nvPr/>
        </p:nvSpPr>
        <p:spPr>
          <a:xfrm>
            <a:off x="812800" y="4724400"/>
            <a:ext cx="3352800" cy="635000"/>
          </a:xfrm>
          <a:prstGeom prst="rect">
            <a:avLst/>
          </a:prstGeom>
          <a:noFill/>
          <a:ln/>
        </p:spPr>
        <p:txBody>
          <a:bodyPr wrap="square" lIns="0" tIns="0" rIns="0" bIns="0" rtlCol="0" anchor="t"/>
          <a:lstStyle/>
          <a:p>
            <a:pPr indent="0" marL="0">
              <a:buNone/>
            </a:pPr>
            <a:r>
              <a:rPr lang="en-US" sz="1300" dirty="0">
                <a:solidFill>
                  <a:srgbClr val="3E4A3F"/>
                </a:solidFill>
                <a:latin typeface="Calibri" pitchFamily="34" charset="0"/>
                <a:ea typeface="Calibri" pitchFamily="34" charset="-122"/>
                <a:cs typeface="Calibri" pitchFamily="34" charset="-120"/>
              </a:rPr>
              <a:t>Admin sees both residents’ answers before confirming.</a:t>
            </a:r>
            <a:endParaRPr lang="en-US" sz="1300" dirty="0"/>
          </a:p>
        </p:txBody>
      </p:sp>
      <p:pic>
        <p:nvPicPr>
          <p:cNvPr id="8" name="Image 1" descr="Handover planner">    </p:cNvPr>
          <p:cNvPicPr>
            <a:picLocks noChangeAspect="1"/>
          </p:cNvPicPr>
          <p:nvPr/>
        </p:nvPicPr>
        <p:blipFill>
          <a:blip r:embed="rId2"/>
          <a:stretch>
            <a:fillRect/>
          </a:stretch>
        </p:blipFill>
        <p:spPr>
          <a:xfrm>
            <a:off x="4368800" y="2095500"/>
            <a:ext cx="3352800" cy="2159000"/>
          </a:xfrm>
          <a:prstGeom prst="rect">
            <a:avLst/>
          </a:prstGeom>
        </p:spPr>
      </p:pic>
      <p:sp>
        <p:nvSpPr>
          <p:cNvPr id="9" name="Text 4"/>
          <p:cNvSpPr txBox="1"/>
          <p:nvPr/>
        </p:nvSpPr>
        <p:spPr>
          <a:xfrm>
            <a:off x="4368800" y="4381500"/>
            <a:ext cx="3352800" cy="317500"/>
          </a:xfrm>
          <a:prstGeom prst="rect">
            <a:avLst/>
          </a:prstGeom>
          <a:noFill/>
          <a:ln/>
        </p:spPr>
        <p:txBody>
          <a:bodyPr wrap="square" lIns="0" tIns="0" rIns="0" bIns="0" rtlCol="0" anchor="t"/>
          <a:lstStyle/>
          <a:p>
            <a:pPr indent="0" marL="0">
              <a:buNone/>
            </a:pPr>
            <a:r>
              <a:rPr lang="en-US" sz="1800" b="1" dirty="0">
                <a:solidFill>
                  <a:srgbClr val="14201A"/>
                </a:solidFill>
                <a:latin typeface="Calibri" pitchFamily="34" charset="0"/>
                <a:ea typeface="Calibri" pitchFamily="34" charset="-122"/>
                <a:cs typeface="Calibri" pitchFamily="34" charset="-120"/>
              </a:rPr>
              <a:t>Handover planner</a:t>
            </a:r>
            <a:endParaRPr lang="en-US" sz="1800" dirty="0"/>
          </a:p>
        </p:txBody>
      </p:sp>
      <p:sp>
        <p:nvSpPr>
          <p:cNvPr id="10" name="Text 5"/>
          <p:cNvSpPr txBox="1"/>
          <p:nvPr/>
        </p:nvSpPr>
        <p:spPr>
          <a:xfrm>
            <a:off x="4368800" y="4724400"/>
            <a:ext cx="3352800" cy="635000"/>
          </a:xfrm>
          <a:prstGeom prst="rect">
            <a:avLst/>
          </a:prstGeom>
          <a:noFill/>
          <a:ln/>
        </p:spPr>
        <p:txBody>
          <a:bodyPr wrap="square" lIns="0" tIns="0" rIns="0" bIns="0" rtlCol="0" anchor="t"/>
          <a:lstStyle/>
          <a:p>
            <a:pPr indent="0" marL="0">
              <a:buNone/>
            </a:pPr>
            <a:r>
              <a:rPr lang="en-US" sz="1300" dirty="0">
                <a:solidFill>
                  <a:srgbClr val="3E4A3F"/>
                </a:solidFill>
                <a:latin typeface="Calibri" pitchFamily="34" charset="0"/>
                <a:ea typeface="Calibri" pitchFamily="34" charset="-122"/>
                <a:cs typeface="Calibri" pitchFamily="34" charset="-120"/>
              </a:rPr>
              <a:t>Forecasts waste, skip-bin loads and carbon for a precinct.</a:t>
            </a:r>
            <a:endParaRPr lang="en-US" sz="1300" dirty="0"/>
          </a:p>
        </p:txBody>
      </p:sp>
      <p:pic>
        <p:nvPicPr>
          <p:cNvPr id="11" name="Image 2" descr="Resident home page">    </p:cNvPr>
          <p:cNvPicPr>
            <a:picLocks noChangeAspect="1"/>
          </p:cNvPicPr>
          <p:nvPr/>
        </p:nvPicPr>
        <p:blipFill>
          <a:blip r:embed="rId3"/>
          <a:stretch>
            <a:fillRect/>
          </a:stretch>
        </p:blipFill>
        <p:spPr>
          <a:xfrm>
            <a:off x="7924800" y="2095500"/>
            <a:ext cx="3352800" cy="2159000"/>
          </a:xfrm>
          <a:prstGeom prst="rect">
            <a:avLst/>
          </a:prstGeom>
        </p:spPr>
      </p:pic>
      <p:sp>
        <p:nvSpPr>
          <p:cNvPr id="12" name="Text 6"/>
          <p:cNvSpPr txBox="1"/>
          <p:nvPr/>
        </p:nvSpPr>
        <p:spPr>
          <a:xfrm>
            <a:off x="7924800" y="4381500"/>
            <a:ext cx="3352800" cy="317500"/>
          </a:xfrm>
          <a:prstGeom prst="rect">
            <a:avLst/>
          </a:prstGeom>
          <a:noFill/>
          <a:ln/>
        </p:spPr>
        <p:txBody>
          <a:bodyPr wrap="square" lIns="0" tIns="0" rIns="0" bIns="0" rtlCol="0" anchor="t"/>
          <a:lstStyle/>
          <a:p>
            <a:pPr indent="0" marL="0">
              <a:buNone/>
            </a:pPr>
            <a:r>
              <a:rPr lang="en-US" sz="1800" b="1" dirty="0">
                <a:solidFill>
                  <a:srgbClr val="14201A"/>
                </a:solidFill>
                <a:latin typeface="Calibri" pitchFamily="34" charset="0"/>
                <a:ea typeface="Calibri" pitchFamily="34" charset="-122"/>
                <a:cs typeface="Calibri" pitchFamily="34" charset="-120"/>
              </a:rPr>
              <a:t>Resident home</a:t>
            </a:r>
            <a:endParaRPr lang="en-US" sz="1800" dirty="0"/>
          </a:p>
        </p:txBody>
      </p:sp>
      <p:sp>
        <p:nvSpPr>
          <p:cNvPr id="13" name="Text 7"/>
          <p:cNvSpPr txBox="1"/>
          <p:nvPr/>
        </p:nvSpPr>
        <p:spPr>
          <a:xfrm>
            <a:off x="7924800" y="4724400"/>
            <a:ext cx="3352800" cy="635000"/>
          </a:xfrm>
          <a:prstGeom prst="rect">
            <a:avLst/>
          </a:prstGeom>
          <a:noFill/>
          <a:ln/>
        </p:spPr>
        <p:txBody>
          <a:bodyPr wrap="square" lIns="0" tIns="0" rIns="0" bIns="0" rtlCol="0" anchor="t"/>
          <a:lstStyle/>
          <a:p>
            <a:pPr indent="0" marL="0">
              <a:buNone/>
            </a:pPr>
            <a:r>
              <a:rPr lang="en-US" sz="1300" dirty="0">
                <a:solidFill>
                  <a:srgbClr val="3E4A3F"/>
                </a:solidFill>
                <a:latin typeface="Calibri" pitchFamily="34" charset="0"/>
                <a:ea typeface="Calibri" pitchFamily="34" charset="-122"/>
                <a:cs typeface="Calibri" pitchFamily="34" charset="-120"/>
              </a:rPr>
              <a:t>Three clear next steps and the township’s running totals.</a:t>
            </a:r>
            <a:endParaRPr lang="en-US" sz="1300" dirty="0"/>
          </a:p>
        </p:txBody>
      </p:sp>
      <p:sp>
        <p:nvSpPr>
          <p:cNvPr id="14" name="Text 8"/>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6A6F5E"/>
                </a:solidFill>
                <a:latin typeface="Calibri" pitchFamily="34" charset="0"/>
                <a:ea typeface="Calibri" pitchFamily="34" charset="-122"/>
                <a:cs typeface="Calibri" pitchFamily="34" charset="-120"/>
              </a:rPr>
              <a:t>Screens from the working prototype (synthetic data)</a:t>
            </a:r>
            <a:endParaRPr lang="en-US" sz="1200" dirty="0"/>
          </a:p>
        </p:txBody>
      </p:sp>
      <p:sp>
        <p:nvSpPr>
          <p:cNvPr id="15" name="Text 9"/>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6A6F5E"/>
                </a:solidFill>
                <a:latin typeface="Calibri" pitchFamily="34" charset="0"/>
                <a:ea typeface="Calibri" pitchFamily="34" charset="-122"/>
                <a:cs typeface="Calibri" pitchFamily="34" charset="-120"/>
              </a:rPr>
              <a:t>A1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6B28"/>
                </a:solidFill>
                <a:latin typeface="Calibri" pitchFamily="34" charset="0"/>
                <a:ea typeface="Calibri" pitchFamily="34" charset="-122"/>
                <a:cs typeface="Calibri" pitchFamily="34" charset="-120"/>
              </a:rPr>
              <a:t>APPENDIX A2 · METHOD</a:t>
            </a:r>
            <a:endParaRPr lang="en-US" sz="1400" dirty="0"/>
          </a:p>
        </p:txBody>
      </p:sp>
      <p:sp>
        <p:nvSpPr>
          <p:cNvPr id="4" name="Text 1"/>
          <p:cNvSpPr txBox="1"/>
          <p:nvPr/>
        </p:nvSpPr>
        <p:spPr>
          <a:xfrm>
            <a:off x="812800" y="11684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4201A"/>
                </a:solidFill>
                <a:latin typeface="Calibri" pitchFamily="34" charset="0"/>
                <a:ea typeface="Calibri" pitchFamily="34" charset="-122"/>
                <a:cs typeface="Calibri" pitchFamily="34" charset="-120"/>
              </a:rPr>
              <a:t>How carbon avoided is estimated</a:t>
            </a:r>
            <a:endParaRPr lang="en-US" sz="3600" dirty="0"/>
          </a:p>
        </p:txBody>
      </p:sp>
      <p:sp>
        <p:nvSpPr>
          <p:cNvPr id="5" name="Shape 2"/>
          <p:cNvSpPr/>
          <p:nvPr/>
        </p:nvSpPr>
        <p:spPr>
          <a:xfrm>
            <a:off x="812800" y="1841500"/>
            <a:ext cx="10566400" cy="571500"/>
          </a:xfrm>
          <a:prstGeom prst="roundRect">
            <a:avLst>
              <a:gd name="adj" fmla="val 26667"/>
            </a:avLst>
          </a:prstGeom>
          <a:solidFill>
            <a:srgbClr val="14201A"/>
          </a:solidFill>
          <a:ln/>
        </p:spPr>
      </p:sp>
      <p:sp>
        <p:nvSpPr>
          <p:cNvPr id="6" name="Text 3"/>
          <p:cNvSpPr txBox="1"/>
          <p:nvPr/>
        </p:nvSpPr>
        <p:spPr>
          <a:xfrm>
            <a:off x="1066800" y="1841500"/>
            <a:ext cx="10096500" cy="571500"/>
          </a:xfrm>
          <a:prstGeom prst="rect">
            <a:avLst/>
          </a:prstGeom>
          <a:noFill/>
          <a:ln/>
        </p:spPr>
        <p:txBody>
          <a:bodyPr wrap="square" lIns="0" tIns="0" rIns="0" bIns="0" rtlCol="0" anchor="ctr"/>
          <a:lstStyle/>
          <a:p>
            <a:pPr indent="0" marL="0">
              <a:buNone/>
            </a:pPr>
            <a:r>
              <a:rPr lang="en-US" sz="1600" b="1" dirty="0">
                <a:solidFill>
                  <a:srgbClr val="0AE448"/>
                </a:solidFill>
                <a:latin typeface="Calibri" pitchFamily="34" charset="0"/>
                <a:ea typeface="Calibri" pitchFamily="34" charset="-122"/>
                <a:cs typeface="Calibri" pitchFamily="34" charset="-120"/>
              </a:rPr>
              <a:t>carbon avoided = weight × emission factor × condition credit × route credit</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00" y="2552700"/>
          <a:ext cx="10566400" cy="914400"/>
        </p:xfrm>
        <a:graphic>
          <a:graphicData uri="http://schemas.openxmlformats.org/drawingml/2006/table">
            <a:tbl>
              <a:tblPr/>
              <a:tblGrid>
                <a:gridCol w="3592576"/>
                <a:gridCol w="1479296"/>
                <a:gridCol w="1901952"/>
                <a:gridCol w="3592576"/>
              </a:tblGrid>
              <a:tr h="355600">
                <a:tc>
                  <a:txBody>
                    <a:bodyPr/>
                    <a:lstStyle/>
                    <a:p>
                      <a:pPr indent="0" marL="0">
                        <a:buNone/>
                      </a:pPr>
                      <a:r>
                        <a:rPr lang="en-US" sz="1300" b="1" dirty="0">
                          <a:solidFill>
                            <a:srgbClr val="14201A"/>
                          </a:solidFill>
                          <a:latin typeface="Calibri" pitchFamily="34" charset="0"/>
                          <a:ea typeface="Calibri" pitchFamily="34" charset="-122"/>
                          <a:cs typeface="Calibri" pitchFamily="34" charset="-120"/>
                        </a:rPr>
                        <a:t>Material</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solidFill>
                      <a:srgbClr val="E2DEC8"/>
                    </a:solidFill>
                  </a:tcPr>
                </a:tc>
                <a:tc>
                  <a:txBody>
                    <a:bodyPr/>
                    <a:lstStyle/>
                    <a:p>
                      <a:pPr indent="0" marL="0">
                        <a:buNone/>
                      </a:pPr>
                      <a:r>
                        <a:rPr lang="en-US" sz="1300" b="1" dirty="0">
                          <a:solidFill>
                            <a:srgbClr val="14201A"/>
                          </a:solidFill>
                          <a:latin typeface="Calibri" pitchFamily="34" charset="0"/>
                          <a:ea typeface="Calibri" pitchFamily="34" charset="-122"/>
                          <a:cs typeface="Calibri" pitchFamily="34" charset="-120"/>
                        </a:rPr>
                        <a:t>kg per unit</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solidFill>
                      <a:srgbClr val="E2DEC8"/>
                    </a:solidFill>
                  </a:tcPr>
                </a:tc>
                <a:tc>
                  <a:txBody>
                    <a:bodyPr/>
                    <a:lstStyle/>
                    <a:p>
                      <a:pPr indent="0" marL="0">
                        <a:buNone/>
                      </a:pPr>
                      <a:r>
                        <a:rPr lang="en-US" sz="1300" b="1" dirty="0">
                          <a:solidFill>
                            <a:srgbClr val="14201A"/>
                          </a:solidFill>
                          <a:latin typeface="Calibri" pitchFamily="34" charset="0"/>
                          <a:ea typeface="Calibri" pitchFamily="34" charset="-122"/>
                          <a:cs typeface="Calibri" pitchFamily="34" charset="-120"/>
                        </a:rPr>
                        <a:t>kg CO₂e per kg</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solidFill>
                      <a:srgbClr val="E2DEC8"/>
                    </a:solidFill>
                  </a:tcPr>
                </a:tc>
                <a:tc>
                  <a:txBody>
                    <a:bodyPr/>
                    <a:lstStyle/>
                    <a:p>
                      <a:pPr indent="0" marL="0">
                        <a:buNone/>
                      </a:pPr>
                      <a:r>
                        <a:rPr lang="en-US" sz="1300" b="1" dirty="0">
                          <a:solidFill>
                            <a:srgbClr val="14201A"/>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solidFill>
                      <a:srgbClr val="E2DEC8"/>
                    </a:solidFill>
                  </a:tcPr>
                </a:tc>
              </a:tr>
              <a:tr h="355600">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Ceramic floor tile (box)</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ICE v4 factor, weight assumed</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355600">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Porcelain tile (box)</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0.76</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ICE v4 factor, weight assumed</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355600">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Sink, basin or WC (ceramic)</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1.93</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ICE v4 factor, weight assumed</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355600">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Timber door</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Placeholder, to verify</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355600">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Kitchen cabinet (wood-based)</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Placeholder, to verify</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r h="355600">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Tap or faucet (brass)</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c>
                  <a:txBody>
                    <a:bodyPr/>
                    <a:lstStyle/>
                    <a:p>
                      <a:pPr indent="0" marL="0">
                        <a:buNone/>
                      </a:pPr>
                      <a:r>
                        <a:rPr lang="en-US" sz="1300" dirty="0">
                          <a:solidFill>
                            <a:srgbClr val="14201A"/>
                          </a:solidFill>
                          <a:latin typeface="Calibri" pitchFamily="34" charset="0"/>
                          <a:ea typeface="Calibri" pitchFamily="34" charset="-122"/>
                          <a:cs typeface="Calibri" pitchFamily="34" charset="-120"/>
                        </a:rPr>
                        <a:t>Placeholder, to verify</a:t>
                      </a:r>
                      <a:endParaRPr lang="en-US" sz="1300" dirty="0">
                        <a:latin typeface="Calibri" charset="0"/>
                        <a:ea typeface="Calibri" charset="0"/>
                        <a:cs typeface="Calibri" charset="0"/>
                      </a:endParaRPr>
                    </a:p>
                  </a:txBody>
                  <a:tcPr marL="91440" marR="91440" marT="27432" marB="27432" anchor="ctr">
                    <a:lnL w="9525" cap="flat" cmpd="sng" algn="ctr">
                      <a:solidFill>
                        <a:srgbClr val="C9C4A8"/>
                      </a:solidFill>
                      <a:prstDash val="solid"/>
                      <a:round/>
                      <a:headEnd type="none" w="med" len="med"/>
                      <a:tailEnd type="none" w="med" len="med"/>
                    </a:lnL>
                    <a:lnR w="9525" cap="flat" cmpd="sng" algn="ctr">
                      <a:solidFill>
                        <a:srgbClr val="C9C4A8"/>
                      </a:solidFill>
                      <a:prstDash val="solid"/>
                      <a:round/>
                      <a:headEnd type="none" w="med" len="med"/>
                      <a:tailEnd type="none" w="med" len="med"/>
                    </a:lnR>
                    <a:lnT w="9525" cap="flat" cmpd="sng" algn="ctr">
                      <a:solidFill>
                        <a:srgbClr val="C9C4A8"/>
                      </a:solidFill>
                      <a:prstDash val="solid"/>
                      <a:round/>
                      <a:headEnd type="none" w="med" len="med"/>
                      <a:tailEnd type="none" w="med" len="med"/>
                    </a:lnT>
                    <a:lnB w="9525" cap="flat" cmpd="sng" algn="ctr">
                      <a:solidFill>
                        <a:srgbClr val="C9C4A8"/>
                      </a:solidFill>
                      <a:prstDash val="solid"/>
                      <a:round/>
                      <a:headEnd type="none" w="med" len="med"/>
                      <a:tailEnd type="none" w="med" len="med"/>
                    </a:lnB>
                  </a:tcPr>
                </a:tc>
              </a:tr>
            </a:tbl>
          </a:graphicData>
        </a:graphic>
      </p:graphicFrame>
      <p:sp>
        <p:nvSpPr>
          <p:cNvPr id="8" name="Text 4"/>
          <p:cNvSpPr txBox="1"/>
          <p:nvPr/>
        </p:nvSpPr>
        <p:spPr>
          <a:xfrm>
            <a:off x="812800" y="5207000"/>
            <a:ext cx="10566400" cy="571500"/>
          </a:xfrm>
          <a:prstGeom prst="rect">
            <a:avLst/>
          </a:prstGeom>
          <a:noFill/>
          <a:ln/>
        </p:spPr>
        <p:txBody>
          <a:bodyPr wrap="square" lIns="0" tIns="0" rIns="0" bIns="0" rtlCol="0" anchor="t"/>
          <a:lstStyle/>
          <a:p>
            <a:pPr indent="0" marL="0">
              <a:buNone/>
            </a:pPr>
            <a:r>
              <a:rPr lang="en-US" sz="1300" dirty="0">
                <a:solidFill>
                  <a:srgbClr val="3E4A3F"/>
                </a:solidFill>
                <a:latin typeface="Calibri" pitchFamily="34" charset="0"/>
                <a:ea typeface="Calibri" pitchFamily="34" charset="-122"/>
                <a:cs typeface="Calibri" pitchFamily="34" charset="-120"/>
              </a:rPr>
              <a:t>Condition credit: new 100%, good 80%, fair 50%. Route credit: reuse 100%, salvage 80%, recycle 15%, landfill 0%. Production stage (A1–A3) only; transport and end-of-life are ignored.</a:t>
            </a:r>
            <a:endParaRPr lang="en-US" sz="1300" dirty="0"/>
          </a:p>
        </p:txBody>
      </p:sp>
      <p:sp>
        <p:nvSpPr>
          <p:cNvPr id="9" name="Text 5"/>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6A6F5E"/>
                </a:solidFill>
                <a:latin typeface="Calibri" pitchFamily="34" charset="0"/>
                <a:ea typeface="Calibri" pitchFamily="34" charset="-122"/>
                <a:cs typeface="Calibri" pitchFamily="34" charset="-120"/>
              </a:rPr>
              <a:t>Rows marked placeholder are guesses to be replaced with cited values</a:t>
            </a:r>
            <a:endParaRPr lang="en-US" sz="1200" dirty="0"/>
          </a:p>
        </p:txBody>
      </p:sp>
      <p:sp>
        <p:nvSpPr>
          <p:cNvPr id="10" name="Text 6"/>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6A6F5E"/>
                </a:solidFill>
                <a:latin typeface="Calibri" pitchFamily="34" charset="0"/>
                <a:ea typeface="Calibri" pitchFamily="34" charset="-122"/>
                <a:cs typeface="Calibri" pitchFamily="34" charset="-120"/>
              </a:rPr>
              <a:t>A2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6B28"/>
                </a:solidFill>
                <a:latin typeface="Calibri" pitchFamily="34" charset="0"/>
                <a:ea typeface="Calibri" pitchFamily="34" charset="-122"/>
                <a:cs typeface="Calibri" pitchFamily="34" charset="-120"/>
              </a:rPr>
              <a:t>APPENDIX A3 · ROLES</a:t>
            </a:r>
            <a:endParaRPr lang="en-US" sz="1400" dirty="0"/>
          </a:p>
        </p:txBody>
      </p:sp>
      <p:sp>
        <p:nvSpPr>
          <p:cNvPr id="4" name="Text 1"/>
          <p:cNvSpPr txBox="1"/>
          <p:nvPr/>
        </p:nvSpPr>
        <p:spPr>
          <a:xfrm>
            <a:off x="812800" y="11684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4201A"/>
                </a:solidFill>
                <a:latin typeface="Calibri" pitchFamily="34" charset="0"/>
                <a:ea typeface="Calibri" pitchFamily="34" charset="-122"/>
                <a:cs typeface="Calibri" pitchFamily="34" charset="-120"/>
              </a:rPr>
              <a:t>Two roles, one agreement flow</a:t>
            </a:r>
            <a:endParaRPr lang="en-US" sz="3600" dirty="0"/>
          </a:p>
        </p:txBody>
      </p:sp>
      <p:sp>
        <p:nvSpPr>
          <p:cNvPr id="5" name="Shape 2"/>
          <p:cNvSpPr/>
          <p:nvPr/>
        </p:nvSpPr>
        <p:spPr>
          <a:xfrm>
            <a:off x="812800" y="1905000"/>
            <a:ext cx="2286000" cy="1206500"/>
          </a:xfrm>
          <a:prstGeom prst="roundRect">
            <a:avLst>
              <a:gd name="adj" fmla="val 12632"/>
            </a:avLst>
          </a:prstGeom>
          <a:solidFill>
            <a:srgbClr val="14201A"/>
          </a:solidFill>
          <a:ln/>
        </p:spPr>
      </p:sp>
      <p:sp>
        <p:nvSpPr>
          <p:cNvPr id="6" name="Text 3"/>
          <p:cNvSpPr txBox="1"/>
          <p:nvPr/>
        </p:nvSpPr>
        <p:spPr>
          <a:xfrm>
            <a:off x="990600" y="2044700"/>
            <a:ext cx="1905000" cy="190500"/>
          </a:xfrm>
          <a:prstGeom prst="rect">
            <a:avLst/>
          </a:prstGeom>
          <a:noFill/>
          <a:ln/>
        </p:spPr>
        <p:txBody>
          <a:bodyPr wrap="square" lIns="0" tIns="0" rIns="0" bIns="0" rtlCol="0" anchor="t"/>
          <a:lstStyle/>
          <a:p>
            <a:pPr indent="0" marL="0">
              <a:buNone/>
            </a:pPr>
            <a:r>
              <a:rPr lang="en-US" sz="1200" b="1" dirty="0">
                <a:solidFill>
                  <a:srgbClr val="0AE448"/>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990600" y="2273300"/>
            <a:ext cx="1968500" cy="317500"/>
          </a:xfrm>
          <a:prstGeom prst="rect">
            <a:avLst/>
          </a:prstGeom>
          <a:noFill/>
          <a:ln/>
        </p:spPr>
        <p:txBody>
          <a:bodyPr wrap="square" lIns="0" tIns="0" rIns="0" bIns="0" rtlCol="0" anchor="t"/>
          <a:lstStyle/>
          <a:p>
            <a:pPr indent="0" marL="0">
              <a:buNone/>
            </a:pPr>
            <a:r>
              <a:rPr lang="en-US" sz="1700" b="1" dirty="0">
                <a:solidFill>
                  <a:srgbClr val="FFFCE1"/>
                </a:solidFill>
                <a:latin typeface="Calibri" pitchFamily="34" charset="0"/>
                <a:ea typeface="Calibri" pitchFamily="34" charset="-122"/>
                <a:cs typeface="Calibri" pitchFamily="34" charset="-120"/>
              </a:rPr>
              <a:t>Match proposed</a:t>
            </a:r>
            <a:endParaRPr lang="en-US" sz="1700" dirty="0"/>
          </a:p>
        </p:txBody>
      </p:sp>
      <p:sp>
        <p:nvSpPr>
          <p:cNvPr id="8" name="Text 5"/>
          <p:cNvSpPr txBox="1"/>
          <p:nvPr/>
        </p:nvSpPr>
        <p:spPr>
          <a:xfrm>
            <a:off x="990600" y="2616200"/>
            <a:ext cx="1968500" cy="444500"/>
          </a:xfrm>
          <a:prstGeom prst="rect">
            <a:avLst/>
          </a:prstGeom>
          <a:noFill/>
          <a:ln/>
        </p:spPr>
        <p:txBody>
          <a:bodyPr wrap="square" lIns="0" tIns="0" rIns="0" bIns="0" rtlCol="0" anchor="t"/>
          <a:lstStyle/>
          <a:p>
            <a:pPr indent="0" marL="0">
              <a:buNone/>
            </a:pPr>
            <a:r>
              <a:rPr lang="en-US" sz="1300" dirty="0">
                <a:solidFill>
                  <a:srgbClr val="E8E5D0"/>
                </a:solidFill>
                <a:latin typeface="Calibri" pitchFamily="34" charset="0"/>
                <a:ea typeface="Calibri" pitchFamily="34" charset="-122"/>
                <a:cs typeface="Calibri" pitchFamily="34" charset="-120"/>
              </a:rPr>
              <a:t>The system ranks donor and requester pairs</a:t>
            </a:r>
            <a:endParaRPr lang="en-US" sz="1300" dirty="0"/>
          </a:p>
        </p:txBody>
      </p:sp>
      <p:sp>
        <p:nvSpPr>
          <p:cNvPr id="9" name="Shape 6"/>
          <p:cNvSpPr/>
          <p:nvPr/>
        </p:nvSpPr>
        <p:spPr>
          <a:xfrm>
            <a:off x="3175000" y="2393950"/>
            <a:ext cx="355600" cy="228600"/>
          </a:xfrm>
          <a:prstGeom prst="rightArrow">
            <a:avLst/>
          </a:prstGeom>
          <a:solidFill>
            <a:srgbClr val="0A6B28"/>
          </a:solidFill>
          <a:ln/>
        </p:spPr>
      </p:sp>
      <p:sp>
        <p:nvSpPr>
          <p:cNvPr id="10" name="Shape 7"/>
          <p:cNvSpPr/>
          <p:nvPr/>
        </p:nvSpPr>
        <p:spPr>
          <a:xfrm>
            <a:off x="3575050" y="1905000"/>
            <a:ext cx="2286000" cy="1206500"/>
          </a:xfrm>
          <a:prstGeom prst="roundRect">
            <a:avLst>
              <a:gd name="adj" fmla="val 12632"/>
            </a:avLst>
          </a:prstGeom>
          <a:solidFill>
            <a:srgbClr val="14201A"/>
          </a:solidFill>
          <a:ln/>
        </p:spPr>
      </p:sp>
      <p:sp>
        <p:nvSpPr>
          <p:cNvPr id="11" name="Text 8"/>
          <p:cNvSpPr txBox="1"/>
          <p:nvPr/>
        </p:nvSpPr>
        <p:spPr>
          <a:xfrm>
            <a:off x="3752850" y="2044700"/>
            <a:ext cx="1905000" cy="190500"/>
          </a:xfrm>
          <a:prstGeom prst="rect">
            <a:avLst/>
          </a:prstGeom>
          <a:noFill/>
          <a:ln/>
        </p:spPr>
        <p:txBody>
          <a:bodyPr wrap="square" lIns="0" tIns="0" rIns="0" bIns="0" rtlCol="0" anchor="t"/>
          <a:lstStyle/>
          <a:p>
            <a:pPr indent="0" marL="0">
              <a:buNone/>
            </a:pPr>
            <a:r>
              <a:rPr lang="en-US" sz="1200" b="1" dirty="0">
                <a:solidFill>
                  <a:srgbClr val="00BAE2"/>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3752850" y="2273300"/>
            <a:ext cx="1968500" cy="317500"/>
          </a:xfrm>
          <a:prstGeom prst="rect">
            <a:avLst/>
          </a:prstGeom>
          <a:noFill/>
          <a:ln/>
        </p:spPr>
        <p:txBody>
          <a:bodyPr wrap="square" lIns="0" tIns="0" rIns="0" bIns="0" rtlCol="0" anchor="t"/>
          <a:lstStyle/>
          <a:p>
            <a:pPr indent="0" marL="0">
              <a:buNone/>
            </a:pPr>
            <a:r>
              <a:rPr lang="en-US" sz="1700" b="1" dirty="0">
                <a:solidFill>
                  <a:srgbClr val="FFFCE1"/>
                </a:solidFill>
                <a:latin typeface="Calibri" pitchFamily="34" charset="0"/>
                <a:ea typeface="Calibri" pitchFamily="34" charset="-122"/>
                <a:cs typeface="Calibri" pitchFamily="34" charset="-120"/>
              </a:rPr>
              <a:t>Both agree</a:t>
            </a:r>
            <a:endParaRPr lang="en-US" sz="1700" dirty="0"/>
          </a:p>
        </p:txBody>
      </p:sp>
      <p:sp>
        <p:nvSpPr>
          <p:cNvPr id="13" name="Text 10"/>
          <p:cNvSpPr txBox="1"/>
          <p:nvPr/>
        </p:nvSpPr>
        <p:spPr>
          <a:xfrm>
            <a:off x="3752850" y="2616200"/>
            <a:ext cx="1968500" cy="444500"/>
          </a:xfrm>
          <a:prstGeom prst="rect">
            <a:avLst/>
          </a:prstGeom>
          <a:noFill/>
          <a:ln/>
        </p:spPr>
        <p:txBody>
          <a:bodyPr wrap="square" lIns="0" tIns="0" rIns="0" bIns="0" rtlCol="0" anchor="t"/>
          <a:lstStyle/>
          <a:p>
            <a:pPr indent="0" marL="0">
              <a:buNone/>
            </a:pPr>
            <a:r>
              <a:rPr lang="en-US" sz="1300" dirty="0">
                <a:solidFill>
                  <a:srgbClr val="E8E5D0"/>
                </a:solidFill>
                <a:latin typeface="Calibri" pitchFamily="34" charset="0"/>
                <a:ea typeface="Calibri" pitchFamily="34" charset="-122"/>
                <a:cs typeface="Calibri" pitchFamily="34" charset="-120"/>
              </a:rPr>
              <a:t>Each resident says yes or no on their own page</a:t>
            </a:r>
            <a:endParaRPr lang="en-US" sz="1300" dirty="0"/>
          </a:p>
        </p:txBody>
      </p:sp>
      <p:sp>
        <p:nvSpPr>
          <p:cNvPr id="14" name="Shape 11"/>
          <p:cNvSpPr/>
          <p:nvPr/>
        </p:nvSpPr>
        <p:spPr>
          <a:xfrm>
            <a:off x="5937250" y="2393950"/>
            <a:ext cx="355600" cy="228600"/>
          </a:xfrm>
          <a:prstGeom prst="rightArrow">
            <a:avLst/>
          </a:prstGeom>
          <a:solidFill>
            <a:srgbClr val="0A6B28"/>
          </a:solidFill>
          <a:ln/>
        </p:spPr>
      </p:sp>
      <p:sp>
        <p:nvSpPr>
          <p:cNvPr id="15" name="Shape 12"/>
          <p:cNvSpPr/>
          <p:nvPr/>
        </p:nvSpPr>
        <p:spPr>
          <a:xfrm>
            <a:off x="6337300" y="1905000"/>
            <a:ext cx="2286000" cy="1206500"/>
          </a:xfrm>
          <a:prstGeom prst="roundRect">
            <a:avLst>
              <a:gd name="adj" fmla="val 12632"/>
            </a:avLst>
          </a:prstGeom>
          <a:solidFill>
            <a:srgbClr val="14201A"/>
          </a:solidFill>
          <a:ln/>
        </p:spPr>
      </p:sp>
      <p:sp>
        <p:nvSpPr>
          <p:cNvPr id="16" name="Text 13"/>
          <p:cNvSpPr txBox="1"/>
          <p:nvPr/>
        </p:nvSpPr>
        <p:spPr>
          <a:xfrm>
            <a:off x="6515100" y="2044700"/>
            <a:ext cx="1905000" cy="190500"/>
          </a:xfrm>
          <a:prstGeom prst="rect">
            <a:avLst/>
          </a:prstGeom>
          <a:noFill/>
          <a:ln/>
        </p:spPr>
        <p:txBody>
          <a:bodyPr wrap="square" lIns="0" tIns="0" rIns="0" bIns="0" rtlCol="0" anchor="t"/>
          <a:lstStyle/>
          <a:p>
            <a:pPr indent="0" marL="0">
              <a:buNone/>
            </a:pPr>
            <a:r>
              <a:rPr lang="en-US" sz="1200" b="1" dirty="0">
                <a:solidFill>
                  <a:srgbClr val="9D95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6515100" y="2273300"/>
            <a:ext cx="1968500" cy="317500"/>
          </a:xfrm>
          <a:prstGeom prst="rect">
            <a:avLst/>
          </a:prstGeom>
          <a:noFill/>
          <a:ln/>
        </p:spPr>
        <p:txBody>
          <a:bodyPr wrap="square" lIns="0" tIns="0" rIns="0" bIns="0" rtlCol="0" anchor="t"/>
          <a:lstStyle/>
          <a:p>
            <a:pPr indent="0" marL="0">
              <a:buNone/>
            </a:pPr>
            <a:r>
              <a:rPr lang="en-US" sz="1700" b="1" dirty="0">
                <a:solidFill>
                  <a:srgbClr val="FFFCE1"/>
                </a:solidFill>
                <a:latin typeface="Calibri" pitchFamily="34" charset="0"/>
                <a:ea typeface="Calibri" pitchFamily="34" charset="-122"/>
                <a:cs typeface="Calibri" pitchFamily="34" charset="-120"/>
              </a:rPr>
              <a:t>Admin confirms</a:t>
            </a:r>
            <a:endParaRPr lang="en-US" sz="1700" dirty="0"/>
          </a:p>
        </p:txBody>
      </p:sp>
      <p:sp>
        <p:nvSpPr>
          <p:cNvPr id="18" name="Text 15"/>
          <p:cNvSpPr txBox="1"/>
          <p:nvPr/>
        </p:nvSpPr>
        <p:spPr>
          <a:xfrm>
            <a:off x="6515100" y="2616200"/>
            <a:ext cx="1968500" cy="444500"/>
          </a:xfrm>
          <a:prstGeom prst="rect">
            <a:avLst/>
          </a:prstGeom>
          <a:noFill/>
          <a:ln/>
        </p:spPr>
        <p:txBody>
          <a:bodyPr wrap="square" lIns="0" tIns="0" rIns="0" bIns="0" rtlCol="0" anchor="t"/>
          <a:lstStyle/>
          <a:p>
            <a:pPr indent="0" marL="0">
              <a:buNone/>
            </a:pPr>
            <a:r>
              <a:rPr lang="en-US" sz="1300" dirty="0">
                <a:solidFill>
                  <a:srgbClr val="E8E5D0"/>
                </a:solidFill>
                <a:latin typeface="Calibri" pitchFamily="34" charset="0"/>
                <a:ea typeface="Calibri" pitchFamily="34" charset="-122"/>
                <a:cs typeface="Calibri" pitchFamily="34" charset="-120"/>
              </a:rPr>
              <a:t>A second pop-up with a tick box</a:t>
            </a:r>
            <a:endParaRPr lang="en-US" sz="1300" dirty="0"/>
          </a:p>
        </p:txBody>
      </p:sp>
      <p:sp>
        <p:nvSpPr>
          <p:cNvPr id="19" name="Shape 16"/>
          <p:cNvSpPr/>
          <p:nvPr/>
        </p:nvSpPr>
        <p:spPr>
          <a:xfrm>
            <a:off x="8699500" y="2393950"/>
            <a:ext cx="355600" cy="228600"/>
          </a:xfrm>
          <a:prstGeom prst="rightArrow">
            <a:avLst/>
          </a:prstGeom>
          <a:solidFill>
            <a:srgbClr val="0A6B28"/>
          </a:solidFill>
          <a:ln/>
        </p:spPr>
      </p:sp>
      <p:sp>
        <p:nvSpPr>
          <p:cNvPr id="20" name="Shape 17"/>
          <p:cNvSpPr/>
          <p:nvPr/>
        </p:nvSpPr>
        <p:spPr>
          <a:xfrm>
            <a:off x="9099550" y="1905000"/>
            <a:ext cx="2286000" cy="1206500"/>
          </a:xfrm>
          <a:prstGeom prst="roundRect">
            <a:avLst>
              <a:gd name="adj" fmla="val 12632"/>
            </a:avLst>
          </a:prstGeom>
          <a:solidFill>
            <a:srgbClr val="14201A"/>
          </a:solidFill>
          <a:ln/>
        </p:spPr>
      </p:sp>
      <p:sp>
        <p:nvSpPr>
          <p:cNvPr id="21" name="Text 18"/>
          <p:cNvSpPr txBox="1"/>
          <p:nvPr/>
        </p:nvSpPr>
        <p:spPr>
          <a:xfrm>
            <a:off x="9277350" y="2044700"/>
            <a:ext cx="1905000" cy="190500"/>
          </a:xfrm>
          <a:prstGeom prst="rect">
            <a:avLst/>
          </a:prstGeom>
          <a:noFill/>
          <a:ln/>
        </p:spPr>
        <p:txBody>
          <a:bodyPr wrap="square" lIns="0" tIns="0" rIns="0" bIns="0" rtlCol="0" anchor="t"/>
          <a:lstStyle/>
          <a:p>
            <a:pPr indent="0" marL="0">
              <a:buNone/>
            </a:pPr>
            <a:r>
              <a:rPr lang="en-US" sz="1200" b="1" dirty="0">
                <a:solidFill>
                  <a:srgbClr val="FF8709"/>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9277350" y="2273300"/>
            <a:ext cx="1968500" cy="317500"/>
          </a:xfrm>
          <a:prstGeom prst="rect">
            <a:avLst/>
          </a:prstGeom>
          <a:noFill/>
          <a:ln/>
        </p:spPr>
        <p:txBody>
          <a:bodyPr wrap="square" lIns="0" tIns="0" rIns="0" bIns="0" rtlCol="0" anchor="t"/>
          <a:lstStyle/>
          <a:p>
            <a:pPr indent="0" marL="0">
              <a:buNone/>
            </a:pPr>
            <a:r>
              <a:rPr lang="en-US" sz="1700" b="1" dirty="0">
                <a:solidFill>
                  <a:srgbClr val="FFFCE1"/>
                </a:solidFill>
                <a:latin typeface="Calibri" pitchFamily="34" charset="0"/>
                <a:ea typeface="Calibri" pitchFamily="34" charset="-122"/>
                <a:cs typeface="Calibri" pitchFamily="34" charset="-120"/>
              </a:rPr>
              <a:t>Ledger and points</a:t>
            </a:r>
            <a:endParaRPr lang="en-US" sz="1700" dirty="0"/>
          </a:p>
        </p:txBody>
      </p:sp>
      <p:sp>
        <p:nvSpPr>
          <p:cNvPr id="23" name="Text 20"/>
          <p:cNvSpPr txBox="1"/>
          <p:nvPr/>
        </p:nvSpPr>
        <p:spPr>
          <a:xfrm>
            <a:off x="9277350" y="2616200"/>
            <a:ext cx="1968500" cy="444500"/>
          </a:xfrm>
          <a:prstGeom prst="rect">
            <a:avLst/>
          </a:prstGeom>
          <a:noFill/>
          <a:ln/>
        </p:spPr>
        <p:txBody>
          <a:bodyPr wrap="square" lIns="0" tIns="0" rIns="0" bIns="0" rtlCol="0" anchor="t"/>
          <a:lstStyle/>
          <a:p>
            <a:pPr indent="0" marL="0">
              <a:buNone/>
            </a:pPr>
            <a:r>
              <a:rPr lang="en-US" sz="1300" dirty="0">
                <a:solidFill>
                  <a:srgbClr val="E8E5D0"/>
                </a:solidFill>
                <a:latin typeface="Calibri" pitchFamily="34" charset="0"/>
                <a:ea typeface="Calibri" pitchFamily="34" charset="-122"/>
                <a:cs typeface="Calibri" pitchFamily="34" charset="-120"/>
              </a:rPr>
              <a:t>Only confirmed hand-offs count</a:t>
            </a:r>
            <a:endParaRPr lang="en-US" sz="1300" dirty="0"/>
          </a:p>
        </p:txBody>
      </p:sp>
      <p:sp>
        <p:nvSpPr>
          <p:cNvPr id="24" name="Text 21"/>
          <p:cNvSpPr txBox="1"/>
          <p:nvPr/>
        </p:nvSpPr>
        <p:spPr>
          <a:xfrm>
            <a:off x="812800" y="3302000"/>
            <a:ext cx="10566400" cy="254000"/>
          </a:xfrm>
          <a:prstGeom prst="rect">
            <a:avLst/>
          </a:prstGeom>
          <a:noFill/>
          <a:ln/>
        </p:spPr>
        <p:txBody>
          <a:bodyPr wrap="square" lIns="0" tIns="0" rIns="0" bIns="0" rtlCol="0" anchor="t"/>
          <a:lstStyle/>
          <a:p>
            <a:pPr indent="0" marL="0">
              <a:buNone/>
            </a:pPr>
            <a:r>
              <a:rPr lang="en-US" sz="1400" dirty="0">
                <a:solidFill>
                  <a:srgbClr val="3E4A3F"/>
                </a:solidFill>
                <a:latin typeface="Calibri" pitchFamily="34" charset="0"/>
                <a:ea typeface="Calibri" pitchFamily="34" charset="-122"/>
                <a:cs typeface="Calibri" pitchFamily="34" charset="-120"/>
              </a:rPr>
              <a:t>A decline by either resident sends the item back to routing.</a:t>
            </a:r>
            <a:endParaRPr lang="en-US" sz="1400" dirty="0"/>
          </a:p>
        </p:txBody>
      </p:sp>
      <p:sp>
        <p:nvSpPr>
          <p:cNvPr id="25" name="Shape 22"/>
          <p:cNvSpPr/>
          <p:nvPr/>
        </p:nvSpPr>
        <p:spPr>
          <a:xfrm>
            <a:off x="812800" y="3746500"/>
            <a:ext cx="5181600" cy="1270000"/>
          </a:xfrm>
          <a:prstGeom prst="roundRect">
            <a:avLst>
              <a:gd name="adj" fmla="val 12000"/>
            </a:avLst>
          </a:prstGeom>
          <a:solidFill>
            <a:srgbClr val="FFFDF2"/>
          </a:solidFill>
          <a:ln w="9525">
            <a:solidFill>
              <a:srgbClr val="D8D3B6"/>
            </a:solidFill>
            <a:prstDash val="solid"/>
          </a:ln>
        </p:spPr>
      </p:sp>
      <p:sp>
        <p:nvSpPr>
          <p:cNvPr id="26" name="Text 23"/>
          <p:cNvSpPr txBox="1"/>
          <p:nvPr/>
        </p:nvSpPr>
        <p:spPr>
          <a:xfrm>
            <a:off x="1041400" y="3898900"/>
            <a:ext cx="4699000" cy="279400"/>
          </a:xfrm>
          <a:prstGeom prst="rect">
            <a:avLst/>
          </a:prstGeom>
          <a:noFill/>
          <a:ln/>
        </p:spPr>
        <p:txBody>
          <a:bodyPr wrap="square" lIns="0" tIns="0" rIns="0" bIns="0" rtlCol="0" anchor="t"/>
          <a:lstStyle/>
          <a:p>
            <a:pPr indent="0" marL="0">
              <a:buNone/>
            </a:pPr>
            <a:r>
              <a:rPr lang="en-US" sz="1700" b="1" dirty="0">
                <a:solidFill>
                  <a:srgbClr val="14201A"/>
                </a:solidFill>
                <a:latin typeface="Calibri" pitchFamily="34" charset="0"/>
                <a:ea typeface="Calibri" pitchFamily="34" charset="-122"/>
                <a:cs typeface="Calibri" pitchFamily="34" charset="-120"/>
              </a:rPr>
              <a:t>Resident</a:t>
            </a:r>
            <a:endParaRPr lang="en-US" sz="1700" dirty="0"/>
          </a:p>
        </p:txBody>
      </p:sp>
      <p:sp>
        <p:nvSpPr>
          <p:cNvPr id="27" name="Text 24"/>
          <p:cNvSpPr txBox="1"/>
          <p:nvPr/>
        </p:nvSpPr>
        <p:spPr>
          <a:xfrm>
            <a:off x="1041400" y="4241800"/>
            <a:ext cx="4699000" cy="635000"/>
          </a:xfrm>
          <a:prstGeom prst="rect">
            <a:avLst/>
          </a:prstGeom>
          <a:noFill/>
          <a:ln/>
        </p:spPr>
        <p:txBody>
          <a:bodyPr wrap="square" lIns="0" tIns="0" rIns="0" bIns="0" rtlCol="0" anchor="t"/>
          <a:lstStyle/>
          <a:p>
            <a:pPr indent="0" marL="0">
              <a:buNone/>
            </a:pPr>
            <a:r>
              <a:rPr lang="en-US" sz="1400" dirty="0">
                <a:solidFill>
                  <a:srgbClr val="3E4A3F"/>
                </a:solidFill>
                <a:latin typeface="Calibri" pitchFamily="34" charset="0"/>
                <a:ea typeface="Calibri" pitchFamily="34" charset="-122"/>
                <a:cs typeface="Calibri" pitchFamily="34" charset="-120"/>
              </a:rPr>
              <a:t>Log items, find materials, agree or decline hand-offs, see points</a:t>
            </a:r>
            <a:endParaRPr lang="en-US" sz="1400" dirty="0"/>
          </a:p>
        </p:txBody>
      </p:sp>
      <p:sp>
        <p:nvSpPr>
          <p:cNvPr id="28" name="Shape 25"/>
          <p:cNvSpPr/>
          <p:nvPr/>
        </p:nvSpPr>
        <p:spPr>
          <a:xfrm>
            <a:off x="6197600" y="3746500"/>
            <a:ext cx="5181600" cy="1270000"/>
          </a:xfrm>
          <a:prstGeom prst="roundRect">
            <a:avLst>
              <a:gd name="adj" fmla="val 12000"/>
            </a:avLst>
          </a:prstGeom>
          <a:solidFill>
            <a:srgbClr val="FFFDF2"/>
          </a:solidFill>
          <a:ln w="9525">
            <a:solidFill>
              <a:srgbClr val="D8D3B6"/>
            </a:solidFill>
            <a:prstDash val="solid"/>
          </a:ln>
        </p:spPr>
      </p:sp>
      <p:sp>
        <p:nvSpPr>
          <p:cNvPr id="29" name="Text 26"/>
          <p:cNvSpPr txBox="1"/>
          <p:nvPr/>
        </p:nvSpPr>
        <p:spPr>
          <a:xfrm>
            <a:off x="6426200" y="3898900"/>
            <a:ext cx="4699000" cy="279400"/>
          </a:xfrm>
          <a:prstGeom prst="rect">
            <a:avLst/>
          </a:prstGeom>
          <a:noFill/>
          <a:ln/>
        </p:spPr>
        <p:txBody>
          <a:bodyPr wrap="square" lIns="0" tIns="0" rIns="0" bIns="0" rtlCol="0" anchor="t"/>
          <a:lstStyle/>
          <a:p>
            <a:pPr indent="0" marL="0">
              <a:buNone/>
            </a:pPr>
            <a:r>
              <a:rPr lang="en-US" sz="1700" b="1" dirty="0">
                <a:solidFill>
                  <a:srgbClr val="14201A"/>
                </a:solidFill>
                <a:latin typeface="Calibri" pitchFamily="34" charset="0"/>
                <a:ea typeface="Calibri" pitchFamily="34" charset="-122"/>
                <a:cs typeface="Calibri" pitchFamily="34" charset="-120"/>
              </a:rPr>
              <a:t>Township admin</a:t>
            </a:r>
            <a:endParaRPr lang="en-US" sz="1700" dirty="0"/>
          </a:p>
        </p:txBody>
      </p:sp>
      <p:sp>
        <p:nvSpPr>
          <p:cNvPr id="30" name="Text 27"/>
          <p:cNvSpPr txBox="1"/>
          <p:nvPr/>
        </p:nvSpPr>
        <p:spPr>
          <a:xfrm>
            <a:off x="6426200" y="4241800"/>
            <a:ext cx="4699000" cy="635000"/>
          </a:xfrm>
          <a:prstGeom prst="rect">
            <a:avLst/>
          </a:prstGeom>
          <a:noFill/>
          <a:ln/>
        </p:spPr>
        <p:txBody>
          <a:bodyPr wrap="square" lIns="0" tIns="0" rIns="0" bIns="0" rtlCol="0" anchor="t"/>
          <a:lstStyle/>
          <a:p>
            <a:pPr indent="0" marL="0">
              <a:buNone/>
            </a:pPr>
            <a:r>
              <a:rPr lang="en-US" sz="1400" dirty="0">
                <a:solidFill>
                  <a:srgbClr val="3E4A3F"/>
                </a:solidFill>
                <a:latin typeface="Calibri" pitchFamily="34" charset="0"/>
                <a:ea typeface="Calibri" pitchFamily="34" charset="-122"/>
                <a:cs typeface="Calibri" pitchFamily="34" charset="-120"/>
              </a:rPr>
              <a:t>Routing, confirm hand-offs, planner, settings, dashboard</a:t>
            </a:r>
            <a:endParaRPr lang="en-US" sz="1400" dirty="0"/>
          </a:p>
        </p:txBody>
      </p:sp>
      <p:sp>
        <p:nvSpPr>
          <p:cNvPr id="31" name="Text 28"/>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6A6F5E"/>
                </a:solidFill>
                <a:latin typeface="Calibri" pitchFamily="34" charset="0"/>
                <a:ea typeface="Calibri" pitchFamily="34" charset="-122"/>
                <a:cs typeface="Calibri" pitchFamily="34" charset="-120"/>
              </a:rPr>
              <a:t>Roles are a demo switch in the prototype; a live version needs real sign-in</a:t>
            </a:r>
            <a:endParaRPr lang="en-US" sz="1200" dirty="0"/>
          </a:p>
        </p:txBody>
      </p:sp>
      <p:sp>
        <p:nvSpPr>
          <p:cNvPr id="32" name="Text 29"/>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6A6F5E"/>
                </a:solidFill>
                <a:latin typeface="Calibri" pitchFamily="34" charset="0"/>
                <a:ea typeface="Calibri" pitchFamily="34" charset="-122"/>
                <a:cs typeface="Calibri" pitchFamily="34" charset="-120"/>
              </a:rPr>
              <a:t>A3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400" b="1" spc="300" kern="0" dirty="0">
                <a:solidFill>
                  <a:srgbClr val="0A6B28"/>
                </a:solidFill>
                <a:latin typeface="Calibri" pitchFamily="34" charset="0"/>
                <a:ea typeface="Calibri" pitchFamily="34" charset="-122"/>
                <a:cs typeface="Calibri" pitchFamily="34" charset="-120"/>
              </a:rPr>
              <a:t>APPENDIX A4 · DATA AND LIMITS</a:t>
            </a:r>
            <a:endParaRPr lang="en-US" sz="1400" dirty="0"/>
          </a:p>
        </p:txBody>
      </p:sp>
      <p:sp>
        <p:nvSpPr>
          <p:cNvPr id="4" name="Text 1"/>
          <p:cNvSpPr txBox="1"/>
          <p:nvPr/>
        </p:nvSpPr>
        <p:spPr>
          <a:xfrm>
            <a:off x="812800" y="11684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4201A"/>
                </a:solidFill>
                <a:latin typeface="Calibri" pitchFamily="34" charset="0"/>
                <a:ea typeface="Calibri" pitchFamily="34" charset="-122"/>
                <a:cs typeface="Calibri" pitchFamily="34" charset="-120"/>
              </a:rPr>
              <a:t>What is real, and what is assumed</a:t>
            </a:r>
            <a:endParaRPr lang="en-US" sz="3600" dirty="0"/>
          </a:p>
        </p:txBody>
      </p:sp>
      <p:sp>
        <p:nvSpPr>
          <p:cNvPr id="5" name="Shape 2"/>
          <p:cNvSpPr/>
          <p:nvPr/>
        </p:nvSpPr>
        <p:spPr>
          <a:xfrm>
            <a:off x="812800" y="1905000"/>
            <a:ext cx="5156200" cy="2794000"/>
          </a:xfrm>
          <a:prstGeom prst="roundRect">
            <a:avLst>
              <a:gd name="adj" fmla="val 6364"/>
            </a:avLst>
          </a:prstGeom>
          <a:solidFill>
            <a:srgbClr val="FFFDF2"/>
          </a:solidFill>
          <a:ln w="9525">
            <a:solidFill>
              <a:srgbClr val="D8D3B6"/>
            </a:solidFill>
            <a:prstDash val="solid"/>
          </a:ln>
        </p:spPr>
      </p:sp>
      <p:sp>
        <p:nvSpPr>
          <p:cNvPr id="6" name="Text 3"/>
          <p:cNvSpPr txBox="1"/>
          <p:nvPr/>
        </p:nvSpPr>
        <p:spPr>
          <a:xfrm>
            <a:off x="1066800" y="2108200"/>
            <a:ext cx="4635500" cy="317500"/>
          </a:xfrm>
          <a:prstGeom prst="rect">
            <a:avLst/>
          </a:prstGeom>
          <a:noFill/>
          <a:ln/>
        </p:spPr>
        <p:txBody>
          <a:bodyPr wrap="square" lIns="0" tIns="0" rIns="0" bIns="0" rtlCol="0" anchor="t"/>
          <a:lstStyle/>
          <a:p>
            <a:pPr indent="0" marL="0">
              <a:buNone/>
            </a:pPr>
            <a:r>
              <a:rPr lang="en-US" sz="1800" b="1" dirty="0">
                <a:solidFill>
                  <a:srgbClr val="14201A"/>
                </a:solidFill>
                <a:latin typeface="Calibri" pitchFamily="34" charset="0"/>
                <a:ea typeface="Calibri" pitchFamily="34" charset="-122"/>
                <a:cs typeface="Calibri" pitchFamily="34" charset="-120"/>
              </a:rPr>
              <a:t>Sources</a:t>
            </a:r>
            <a:endParaRPr lang="en-US" sz="1800" dirty="0"/>
          </a:p>
        </p:txBody>
      </p:sp>
      <p:sp>
        <p:nvSpPr>
          <p:cNvPr id="7" name="Text 4"/>
          <p:cNvSpPr txBox="1"/>
          <p:nvPr/>
        </p:nvSpPr>
        <p:spPr>
          <a:xfrm>
            <a:off x="1066800" y="2540000"/>
            <a:ext cx="4667250" cy="2032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E4A3F"/>
                </a:solidFill>
                <a:latin typeface="Calibri" pitchFamily="34" charset="0"/>
                <a:ea typeface="Calibri" pitchFamily="34" charset="-122"/>
                <a:cs typeface="Calibri" pitchFamily="34" charset="-120"/>
              </a:rPr>
              <a:t>Ain Shams Engineering Journal (2021): housing-sector waste and its reusable share</a:t>
            </a:r>
            <a:endParaRPr lang="en-US" sz="1400" dirty="0"/>
          </a:p>
          <a:p>
            <a:pPr marL="342900" indent="-342900">
              <a:spcAft>
                <a:spcPts val="800"/>
              </a:spcAft>
              <a:buSzPct val="100000"/>
              <a:buChar char="•"/>
            </a:pPr>
            <a:r>
              <a:rPr lang="en-US" sz="1400" dirty="0">
                <a:solidFill>
                  <a:srgbClr val="3E4A3F"/>
                </a:solidFill>
                <a:latin typeface="Calibri" pitchFamily="34" charset="0"/>
                <a:ea typeface="Calibri" pitchFamily="34" charset="-122"/>
                <a:cs typeface="Calibri" pitchFamily="34" charset="-120"/>
              </a:rPr>
              <a:t>UTHM study: construction waste and landfill space in Malaysia</a:t>
            </a:r>
            <a:endParaRPr lang="en-US" sz="1400" dirty="0"/>
          </a:p>
          <a:p>
            <a:pPr marL="342900" indent="-342900">
              <a:spcAft>
                <a:spcPts val="800"/>
              </a:spcAft>
              <a:buSzPct val="100000"/>
              <a:buChar char="•"/>
            </a:pPr>
            <a:r>
              <a:rPr lang="en-US" sz="1400" dirty="0">
                <a:solidFill>
                  <a:srgbClr val="3E4A3F"/>
                </a:solidFill>
                <a:latin typeface="Calibri" pitchFamily="34" charset="0"/>
                <a:ea typeface="Calibri" pitchFamily="34" charset="-122"/>
                <a:cs typeface="Calibri" pitchFamily="34" charset="-120"/>
              </a:rPr>
              <a:t>ICE database v4, via Climatiq: tile and sanitaryware emission factors</a:t>
            </a:r>
            <a:endParaRPr lang="en-US" sz="1400" dirty="0"/>
          </a:p>
        </p:txBody>
      </p:sp>
      <p:sp>
        <p:nvSpPr>
          <p:cNvPr id="8" name="Shape 5"/>
          <p:cNvSpPr/>
          <p:nvPr/>
        </p:nvSpPr>
        <p:spPr>
          <a:xfrm>
            <a:off x="6223000" y="1905000"/>
            <a:ext cx="5156200" cy="2794000"/>
          </a:xfrm>
          <a:prstGeom prst="roundRect">
            <a:avLst>
              <a:gd name="adj" fmla="val 6364"/>
            </a:avLst>
          </a:prstGeom>
          <a:solidFill>
            <a:srgbClr val="FFFDF2"/>
          </a:solidFill>
          <a:ln w="9525">
            <a:solidFill>
              <a:srgbClr val="D8D3B6"/>
            </a:solidFill>
            <a:prstDash val="solid"/>
          </a:ln>
        </p:spPr>
      </p:sp>
      <p:sp>
        <p:nvSpPr>
          <p:cNvPr id="9" name="Text 6"/>
          <p:cNvSpPr txBox="1"/>
          <p:nvPr/>
        </p:nvSpPr>
        <p:spPr>
          <a:xfrm>
            <a:off x="6477000" y="2108200"/>
            <a:ext cx="4635500" cy="317500"/>
          </a:xfrm>
          <a:prstGeom prst="rect">
            <a:avLst/>
          </a:prstGeom>
          <a:noFill/>
          <a:ln/>
        </p:spPr>
        <p:txBody>
          <a:bodyPr wrap="square" lIns="0" tIns="0" rIns="0" bIns="0" rtlCol="0" anchor="t"/>
          <a:lstStyle/>
          <a:p>
            <a:pPr indent="0" marL="0">
              <a:buNone/>
            </a:pPr>
            <a:r>
              <a:rPr lang="en-US" sz="1800" b="1" dirty="0">
                <a:solidFill>
                  <a:srgbClr val="14201A"/>
                </a:solidFill>
                <a:latin typeface="Calibri" pitchFamily="34" charset="0"/>
                <a:ea typeface="Calibri" pitchFamily="34" charset="-122"/>
                <a:cs typeface="Calibri" pitchFamily="34" charset="-120"/>
              </a:rPr>
              <a:t>Limits</a:t>
            </a:r>
            <a:endParaRPr lang="en-US" sz="1800" dirty="0"/>
          </a:p>
        </p:txBody>
      </p:sp>
      <p:sp>
        <p:nvSpPr>
          <p:cNvPr id="10" name="Text 7"/>
          <p:cNvSpPr txBox="1"/>
          <p:nvPr/>
        </p:nvSpPr>
        <p:spPr>
          <a:xfrm>
            <a:off x="6477000" y="2540000"/>
            <a:ext cx="4667250" cy="2032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E4A3F"/>
                </a:solidFill>
                <a:latin typeface="Calibri" pitchFamily="34" charset="0"/>
                <a:ea typeface="Calibri" pitchFamily="34" charset="-122"/>
                <a:cs typeface="Calibri" pitchFamily="34" charset="-120"/>
              </a:rPr>
              <a:t>All residents, listings and hand-offs are synthetic</a:t>
            </a:r>
            <a:endParaRPr lang="en-US" sz="1400" dirty="0"/>
          </a:p>
          <a:p>
            <a:pPr marL="342900" indent="-342900">
              <a:spcAft>
                <a:spcPts val="800"/>
              </a:spcAft>
              <a:buSzPct val="100000"/>
              <a:buChar char="•"/>
            </a:pPr>
            <a:r>
              <a:rPr lang="en-US" sz="1400" dirty="0">
                <a:solidFill>
                  <a:srgbClr val="3E4A3F"/>
                </a:solidFill>
                <a:latin typeface="Calibri" pitchFamily="34" charset="0"/>
                <a:ea typeface="Calibri" pitchFamily="34" charset="-122"/>
                <a:cs typeface="Calibri" pitchFamily="34" charset="-120"/>
              </a:rPr>
              <a:t>Materials are picked by the user; no vision model yet</a:t>
            </a:r>
            <a:endParaRPr lang="en-US" sz="1400" dirty="0"/>
          </a:p>
          <a:p>
            <a:pPr marL="342900" indent="-342900">
              <a:spcAft>
                <a:spcPts val="800"/>
              </a:spcAft>
              <a:buSzPct val="100000"/>
              <a:buChar char="•"/>
            </a:pPr>
            <a:r>
              <a:rPr lang="en-US" sz="1400" dirty="0">
                <a:solidFill>
                  <a:srgbClr val="3E4A3F"/>
                </a:solidFill>
                <a:latin typeface="Calibri" pitchFamily="34" charset="0"/>
                <a:ea typeface="Calibri" pitchFamily="34" charset="-122"/>
                <a:cs typeface="Calibri" pitchFamily="34" charset="-120"/>
              </a:rPr>
              <a:t>Demo sign-in only; no real accounts or live backend</a:t>
            </a:r>
            <a:endParaRPr lang="en-US" sz="1400" dirty="0"/>
          </a:p>
          <a:p>
            <a:pPr marL="342900" indent="-342900">
              <a:spcAft>
                <a:spcPts val="800"/>
              </a:spcAft>
              <a:buSzPct val="100000"/>
              <a:buChar char="•"/>
            </a:pPr>
            <a:r>
              <a:rPr lang="en-US" sz="1400" dirty="0">
                <a:solidFill>
                  <a:srgbClr val="3E4A3F"/>
                </a:solidFill>
                <a:latin typeface="Calibri" pitchFamily="34" charset="0"/>
                <a:ea typeface="Calibri" pitchFamily="34" charset="-122"/>
                <a:cs typeface="Calibri" pitchFamily="34" charset="-120"/>
              </a:rPr>
              <a:t>Route credits, staging size, recycler minimum and skip-bin size are assumptions</a:t>
            </a:r>
            <a:endParaRPr lang="en-US" sz="1400" dirty="0"/>
          </a:p>
          <a:p>
            <a:pPr marL="342900" indent="-342900">
              <a:spcAft>
                <a:spcPts val="800"/>
              </a:spcAft>
              <a:buSzPct val="100000"/>
              <a:buChar char="•"/>
            </a:pPr>
            <a:r>
              <a:rPr lang="en-US" sz="1400" dirty="0">
                <a:solidFill>
                  <a:srgbClr val="3E4A3F"/>
                </a:solidFill>
                <a:latin typeface="Calibri" pitchFamily="34" charset="0"/>
                <a:ea typeface="Calibri" pitchFamily="34" charset="-122"/>
                <a:cs typeface="Calibri" pitchFamily="34" charset="-120"/>
              </a:rPr>
              <a:t>Used fixtures need a condition check and a no-warranty notice</a:t>
            </a:r>
            <a:endParaRPr lang="en-US" sz="1400" dirty="0"/>
          </a:p>
        </p:txBody>
      </p:sp>
      <p:sp>
        <p:nvSpPr>
          <p:cNvPr id="11" name="Text 8"/>
          <p:cNvSpPr txBox="1"/>
          <p:nvPr/>
        </p:nvSpPr>
        <p:spPr>
          <a:xfrm>
            <a:off x="812800" y="6261100"/>
            <a:ext cx="8890000" cy="190500"/>
          </a:xfrm>
          <a:prstGeom prst="rect">
            <a:avLst/>
          </a:prstGeom>
          <a:noFill/>
          <a:ln/>
        </p:spPr>
        <p:txBody>
          <a:bodyPr wrap="square" lIns="0" tIns="0" rIns="0" bIns="0" rtlCol="0" anchor="t"/>
          <a:lstStyle/>
          <a:p>
            <a:pPr indent="0" marL="0">
              <a:buNone/>
            </a:pPr>
            <a:r>
              <a:rPr lang="en-US" sz="1200" dirty="0">
                <a:solidFill>
                  <a:srgbClr val="6A6F5E"/>
                </a:solidFill>
                <a:latin typeface="Calibri" pitchFamily="34" charset="0"/>
                <a:ea typeface="Calibri" pitchFamily="34" charset="-122"/>
                <a:cs typeface="Calibri" pitchFamily="34" charset="-120"/>
              </a:rPr>
              <a:t>All data sources and assumptions are stated, as the hackathon requires</a:t>
            </a:r>
            <a:endParaRPr lang="en-US" sz="1200" dirty="0"/>
          </a:p>
        </p:txBody>
      </p:sp>
      <p:sp>
        <p:nvSpPr>
          <p:cNvPr id="12" name="Text 9"/>
          <p:cNvSpPr txBox="1"/>
          <p:nvPr/>
        </p:nvSpPr>
        <p:spPr>
          <a:xfrm>
            <a:off x="10363200" y="6261100"/>
            <a:ext cx="1016000" cy="190500"/>
          </a:xfrm>
          <a:prstGeom prst="rect">
            <a:avLst/>
          </a:prstGeom>
          <a:noFill/>
          <a:ln/>
        </p:spPr>
        <p:txBody>
          <a:bodyPr wrap="square" lIns="0" tIns="0" rIns="0" bIns="0" rtlCol="0" anchor="t"/>
          <a:lstStyle/>
          <a:p>
            <a:pPr algn="r" indent="0" marL="0">
              <a:buNone/>
            </a:pPr>
            <a:r>
              <a:rPr lang="en-US" sz="1200" dirty="0">
                <a:solidFill>
                  <a:srgbClr val="6A6F5E"/>
                </a:solidFill>
                <a:latin typeface="Calibri" pitchFamily="34" charset="0"/>
                <a:ea typeface="Calibri" pitchFamily="34" charset="-122"/>
                <a:cs typeface="Calibri" pitchFamily="34" charset="-120"/>
              </a:rPr>
              <a:t>A4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CircularFit pitch deck</dc:title>
  <dc:subject>Sime Darby Property University Hackathon 2026, Planet track</dc:subject>
  <dc:creator>PptxGenJS</dc:creator>
  <cp:lastModifiedBy>PptxGenJS</cp:lastModifiedBy>
  <cp:revision>1</cp:revision>
  <dcterms:created xsi:type="dcterms:W3CDTF">2026-10-23T07:39:26Z</dcterms:created>
  <dcterms:modified xsi:type="dcterms:W3CDTF">2026-10-23T07:39:26Z</dcterms:modified>
</cp:coreProperties>
</file>